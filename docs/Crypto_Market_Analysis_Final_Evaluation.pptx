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BTC</c:v>
                </c:pt>
              </c:strCache>
            </c:strRef>
          </c:tx>
          <c:spPr>
            <a:solidFill>
              <a:srgbClr val="00BCD4"/>
            </a:solidFill>
            <a:ln w="28575" cap="flat">
              <a:solidFill>
                <a:srgbClr val="00BC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BCD4"/>
              </a:solidFill>
              <a:ln w="9525" cap="flat">
                <a:solidFill>
                  <a:srgbClr val="00BC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S</c:v>
                  </c:pt>
                  <c:pt idx="1">
                    <c:v>O</c:v>
                  </c:pt>
                  <c:pt idx="2">
                    <c:v>N</c:v>
                  </c:pt>
                  <c:pt idx="3">
                    <c:v>D</c:v>
                  </c:pt>
                  <c:pt idx="4">
                    <c:v>J</c:v>
                  </c:pt>
                  <c:pt idx="5">
                    <c:v>F</c:v>
                  </c:pt>
                  <c:pt idx="6">
                    <c:v>M</c:v>
                  </c:pt>
                  <c:pt idx="7">
                    <c:v>A</c:v>
                  </c:pt>
                  <c:pt idx="8">
                    <c:v>M</c:v>
                  </c:pt>
                  <c:pt idx="9">
                    <c:v>J</c:v>
                  </c:pt>
                  <c:pt idx="10">
                    <c:v>J</c:v>
                  </c:pt>
                  <c:pt idx="11">
                    <c:v>A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98</c:v>
                </c:pt>
                <c:pt idx="1">
                  <c:v>101</c:v>
                </c:pt>
                <c:pt idx="2">
                  <c:v>92</c:v>
                </c:pt>
                <c:pt idx="3">
                  <c:v>78</c:v>
                </c:pt>
                <c:pt idx="4">
                  <c:v>82</c:v>
                </c:pt>
                <c:pt idx="5">
                  <c:v>75</c:v>
                </c:pt>
                <c:pt idx="6">
                  <c:v>70</c:v>
                </c:pt>
                <c:pt idx="7">
                  <c:v>68</c:v>
                </c:pt>
                <c:pt idx="8">
                  <c:v>65</c:v>
                </c:pt>
                <c:pt idx="9">
                  <c:v>61</c:v>
                </c:pt>
                <c:pt idx="10">
                  <c:v>63</c:v>
                </c:pt>
                <c:pt idx="11">
                  <c:v>63.5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A333A"/>
              </a:solidFill>
              <a:prstDash val="solid"/>
              <a:round/>
            </a:ln>
          </c:spPr>
        </c:majorGridlines>
        <c:numFmt formatCode="$0k" sourceLinked="0"/>
        <c:majorTickMark val="out"/>
        <c:minorTickMark val="none"/>
        <c:tickLblPos val="nextTo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32A31"/>
        </a:solidFill>
        <a:ln>
          <a:noFill/>
        </a:ln>
        <a:effectLst/>
      </c:spPr>
    </c:plotArea>
    <c:plotVisOnly val="1"/>
    <c:dispBlanksAs val="span"/>
  </c:chart>
  <c:spPr>
    <a:solidFill>
      <a:srgbClr val="232A31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</c:v>
                </c:pt>
              </c:strCache>
            </c:strRef>
          </c:tx>
          <c:spPr>
            <a:solidFill>
              <a:srgbClr val="00BCD4"/>
            </a:solidFill>
            <a:ln w="25400" cap="flat">
              <a:solidFill>
                <a:srgbClr val="00BC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BCD4"/>
              </a:solidFill>
              <a:ln w="9525" cap="flat">
                <a:solidFill>
                  <a:srgbClr val="00BC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S</c:v>
                  </c:pt>
                  <c:pt idx="1">
                    <c:v>O</c:v>
                  </c:pt>
                  <c:pt idx="2">
                    <c:v>N</c:v>
                  </c:pt>
                  <c:pt idx="3">
                    <c:v>D</c:v>
                  </c:pt>
                  <c:pt idx="4">
                    <c:v>J</c:v>
                  </c:pt>
                  <c:pt idx="5">
                    <c:v>F</c:v>
                  </c:pt>
                  <c:pt idx="6">
                    <c:v>M</c:v>
                  </c:pt>
                  <c:pt idx="7">
                    <c:v>A</c:v>
                  </c:pt>
                  <c:pt idx="8">
                    <c:v>M</c:v>
                  </c:pt>
                  <c:pt idx="9">
                    <c:v>J</c:v>
                  </c:pt>
                  <c:pt idx="10">
                    <c:v>J</c:v>
                  </c:pt>
                  <c:pt idx="11">
                    <c:v>A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0.38</c:v>
                </c:pt>
                <c:pt idx="1">
                  <c:v>0.42</c:v>
                </c:pt>
                <c:pt idx="2">
                  <c:v>0.55</c:v>
                </c:pt>
                <c:pt idx="3">
                  <c:v>0.48</c:v>
                </c:pt>
                <c:pt idx="4">
                  <c:v>0.6</c:v>
                </c:pt>
                <c:pt idx="5">
                  <c:v>0.71</c:v>
                </c:pt>
                <c:pt idx="6">
                  <c:v>0.58</c:v>
                </c:pt>
                <c:pt idx="7">
                  <c:v>0.5</c:v>
                </c:pt>
                <c:pt idx="8">
                  <c:v>0.45</c:v>
                </c:pt>
                <c:pt idx="9">
                  <c:v>0.4</c:v>
                </c:pt>
                <c:pt idx="10">
                  <c:v>0.43</c:v>
                </c:pt>
                <c:pt idx="11">
                  <c:v>0.43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A333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32A31"/>
        </a:solidFill>
        <a:ln>
          <a:noFill/>
        </a:ln>
        <a:effectLst/>
      </c:spPr>
    </c:plotArea>
    <c:plotVisOnly val="1"/>
    <c:dispBlanksAs val="span"/>
  </c:chart>
  <c:spPr>
    <a:solidFill>
      <a:srgbClr val="232A31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Calm  (225 days)</c:v>
                </c:pt>
              </c:strCache>
            </c:strRef>
          </c:tx>
          <c:spPr>
            <a:solidFill>
              <a:srgbClr val="A8B8C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62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BTC</c:v>
                  </c:pt>
                  <c:pt idx="1">
                    <c:v>ETH</c:v>
                  </c:pt>
                  <c:pt idx="2">
                    <c:v>SOL</c:v>
                  </c:pt>
                  <c:pt idx="3">
                    <c:v>BNB</c:v>
                  </c:pt>
                  <c:pt idx="4">
                    <c:v>XRP</c:v>
                  </c:pt>
                  <c:pt idx="5">
                    <c:v>ADA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-0.01</c:v>
                </c:pt>
                <c:pt idx="2">
                  <c:v>0.03</c:v>
                </c:pt>
                <c:pt idx="3">
                  <c:v>-0.01</c:v>
                </c:pt>
                <c:pt idx="4">
                  <c:v>0.03</c:v>
                </c:pt>
                <c:pt idx="5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Stressed  (25 days)</c:v>
                </c:pt>
              </c:strCache>
            </c:strRef>
          </c:tx>
          <c:spPr>
            <a:solidFill>
              <a:srgbClr val="E85D5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62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BTC</c:v>
                  </c:pt>
                  <c:pt idx="1">
                    <c:v>ETH</c:v>
                  </c:pt>
                  <c:pt idx="2">
                    <c:v>SOL</c:v>
                  </c:pt>
                  <c:pt idx="3">
                    <c:v>BNB</c:v>
                  </c:pt>
                  <c:pt idx="4">
                    <c:v>XRP</c:v>
                  </c:pt>
                  <c:pt idx="5">
                    <c:v>ADA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0.12</c:v>
                </c:pt>
                <c:pt idx="1">
                  <c:v>0.17</c:v>
                </c:pt>
                <c:pt idx="2">
                  <c:v>0.21</c:v>
                </c:pt>
                <c:pt idx="3">
                  <c:v>0.09</c:v>
                </c:pt>
                <c:pt idx="4">
                  <c:v>0.2</c:v>
                </c:pt>
                <c:pt idx="5">
                  <c:v>0.32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1620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CE4E6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620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"/>
          <c:min val="-0.06"/>
        </c:scaling>
        <c:delete val="0"/>
        <c:axPos val="l"/>
        <c:majorGridlines>
          <c:spPr>
            <a:ln w="9525" cap="flat">
              <a:solidFill>
                <a:srgbClr val="E8ED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DCE4E6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B6B76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5F9FA"/>
            </a:solidFill>
            <a:ln w="25400" cap="flat">
              <a:solidFill>
                <a:srgbClr val="F5F9F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5F9FA"/>
              </a:solidFill>
              <a:ln w="9525" cap="flat">
                <a:solidFill>
                  <a:srgbClr val="F5F9F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-20</c:v>
                  </c:pt>
                  <c:pt idx="1">
                    <c:v>-15</c:v>
                  </c:pt>
                  <c:pt idx="2">
                    <c:v>-10</c:v>
                  </c:pt>
                  <c:pt idx="3">
                    <c:v>-5</c:v>
                  </c:pt>
                  <c:pt idx="4">
                    <c:v>0</c:v>
                  </c:pt>
                  <c:pt idx="5">
                    <c:v>5</c:v>
                  </c:pt>
                  <c:pt idx="6">
                    <c:v>10</c:v>
                  </c:pt>
                  <c:pt idx="7">
                    <c:v>15</c:v>
                  </c:pt>
                  <c:pt idx="8">
                    <c:v>20</c:v>
                  </c:pt>
                  <c:pt idx="9">
                    <c:v>25</c:v>
                  </c:pt>
                  <c:pt idx="10">
                    <c:v>30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66</c:v>
                </c:pt>
                <c:pt idx="1">
                  <c:v>65</c:v>
                </c:pt>
                <c:pt idx="2">
                  <c:v>63.5</c:v>
                </c:pt>
                <c:pt idx="3">
                  <c:v>64</c:v>
                </c:pt>
                <c:pt idx="4">
                  <c:v>63.5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Upper</c:v>
                </c:pt>
              </c:strCache>
            </c:strRef>
          </c:tx>
          <c:spPr>
            <a:solidFill>
              <a:srgbClr val="0097A7"/>
            </a:solidFill>
            <a:ln w="25400" cap="flat">
              <a:solidFill>
                <a:srgbClr val="0097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97A7"/>
              </a:solidFill>
              <a:ln w="9525" cap="flat">
                <a:solidFill>
                  <a:srgbClr val="0097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-20</c:v>
                  </c:pt>
                  <c:pt idx="1">
                    <c:v>-15</c:v>
                  </c:pt>
                  <c:pt idx="2">
                    <c:v>-10</c:v>
                  </c:pt>
                  <c:pt idx="3">
                    <c:v>-5</c:v>
                  </c:pt>
                  <c:pt idx="4">
                    <c:v>0</c:v>
                  </c:pt>
                  <c:pt idx="5">
                    <c:v>5</c:v>
                  </c:pt>
                  <c:pt idx="6">
                    <c:v>10</c:v>
                  </c:pt>
                  <c:pt idx="7">
                    <c:v>15</c:v>
                  </c:pt>
                  <c:pt idx="8">
                    <c:v>20</c:v>
                  </c:pt>
                  <c:pt idx="9">
                    <c:v>25</c:v>
                  </c:pt>
                  <c:pt idx="10">
                    <c:v>30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63.5</c:v>
                </c:pt>
                <c:pt idx="5">
                  <c:v>66</c:v>
                </c:pt>
                <c:pt idx="6">
                  <c:v>68</c:v>
                </c:pt>
                <c:pt idx="7">
                  <c:v>70</c:v>
                </c:pt>
                <c:pt idx="8">
                  <c:v>72</c:v>
                </c:pt>
                <c:pt idx="9">
                  <c:v>74</c:v>
                </c:pt>
                <c:pt idx="10">
                  <c:v>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Lower</c:v>
                </c:pt>
              </c:strCache>
            </c:strRef>
          </c:tx>
          <c:spPr>
            <a:solidFill>
              <a:srgbClr val="0097A7"/>
            </a:solidFill>
            <a:ln w="25400" cap="flat">
              <a:solidFill>
                <a:srgbClr val="0097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97A7"/>
              </a:solidFill>
              <a:ln w="9525" cap="flat">
                <a:solidFill>
                  <a:srgbClr val="0097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-20</c:v>
                  </c:pt>
                  <c:pt idx="1">
                    <c:v>-15</c:v>
                  </c:pt>
                  <c:pt idx="2">
                    <c:v>-10</c:v>
                  </c:pt>
                  <c:pt idx="3">
                    <c:v>-5</c:v>
                  </c:pt>
                  <c:pt idx="4">
                    <c:v>0</c:v>
                  </c:pt>
                  <c:pt idx="5">
                    <c:v>5</c:v>
                  </c:pt>
                  <c:pt idx="6">
                    <c:v>10</c:v>
                  </c:pt>
                  <c:pt idx="7">
                    <c:v>15</c:v>
                  </c:pt>
                  <c:pt idx="8">
                    <c:v>20</c:v>
                  </c:pt>
                  <c:pt idx="9">
                    <c:v>25</c:v>
                  </c:pt>
                  <c:pt idx="10">
                    <c:v>30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63.5</c:v>
                </c:pt>
                <c:pt idx="5">
                  <c:v>61</c:v>
                </c:pt>
                <c:pt idx="6">
                  <c:v>59</c:v>
                </c:pt>
                <c:pt idx="7">
                  <c:v>57</c:v>
                </c:pt>
                <c:pt idx="8">
                  <c:v>55</c:v>
                </c:pt>
                <c:pt idx="9">
                  <c:v>53</c:v>
                </c:pt>
                <c:pt idx="10">
                  <c:v>51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A333A"/>
              </a:solidFill>
              <a:prstDash val="solid"/>
              <a:round/>
            </a:ln>
          </c:spPr>
        </c:majorGridlines>
        <c:numFmt formatCode="$0k" sourceLinked="0"/>
        <c:majorTickMark val="out"/>
        <c:minorTickMark val="none"/>
        <c:tickLblPos val="nextTo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32A31"/>
        </a:solidFill>
        <a:ln>
          <a:noFill/>
        </a:ln>
        <a:effectLst/>
      </c:spPr>
    </c:plotArea>
    <c:plotVisOnly val="1"/>
    <c:dispBlanksAs val="span"/>
  </c:chart>
  <c:spPr>
    <a:solidFill>
      <a:srgbClr val="232A31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5486400" cy="548640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548640"/>
            <a:ext cx="2926080" cy="2926080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4" name="Shape 2"/>
          <p:cNvSpPr/>
          <p:nvPr/>
        </p:nvSpPr>
        <p:spPr>
          <a:xfrm>
            <a:off x="-2194560" y="4206240"/>
            <a:ext cx="4754880" cy="475488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EVALUATION PRESENTATION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9875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Cryptocurrency Market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 System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Streamlit dashboard that turns raw crypto data into volatility, cycle, correlation, and forecast calls you can actually act 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Garima Aishwarya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5661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Dikshant Pargai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093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Divyanshu Singh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0525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Nayan Bansal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 Data Is Everywhere. Insight Isn't.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feeds, on-chain activity, sentiment indexes, and macro data all live in different places, in different shapes. An investor chasing a clear, honest read on crypto risk has to stitch it together by hand — every time.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474720"/>
            <a:ext cx="6035040" cy="2057400"/>
          </a:xfrm>
          <a:prstGeom prst="roundRect">
            <a:avLst>
              <a:gd name="adj" fmla="val 3556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3474720"/>
            <a:ext cx="544068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50" b="1" i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built one dashboard that does the stitching for you — and shows its work.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178040" y="155448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55448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&amp; Volume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326880" y="196596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0" y="196596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Activity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78040" y="260604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060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Sentiment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0" y="30175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Assets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49640" y="3977640"/>
            <a:ext cx="1051560" cy="10515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39776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⇓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7635240" y="525780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14181C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35240" y="525780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Dashboard, Four Live Analyses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Plotly, pulling real data from CoinGecko, Yahoo Finance, alternative.me, and Blockchain.info right now.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54480" y="1600200"/>
            <a:ext cx="9052560" cy="4663440"/>
          </a:xfrm>
          <a:prstGeom prst="roundRect">
            <a:avLst>
              <a:gd name="adj" fmla="val 1569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54480" y="1600200"/>
            <a:ext cx="1920240" cy="4663440"/>
          </a:xfrm>
          <a:prstGeom prst="rect">
            <a:avLst/>
          </a:prstGeom>
          <a:solidFill>
            <a:srgbClr val="232A31"/>
          </a:solidFill>
          <a:ln/>
        </p:spPr>
      </p:sp>
      <p:sp>
        <p:nvSpPr>
          <p:cNvPr id="7" name="Text 5"/>
          <p:cNvSpPr/>
          <p:nvPr/>
        </p:nvSpPr>
        <p:spPr>
          <a:xfrm>
            <a:off x="1737360" y="178308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Market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737360" y="25146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WINDOW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737360" y="2770632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4181C"/>
          </a:solidFill>
          <a:ln/>
        </p:spPr>
      </p:sp>
      <p:sp>
        <p:nvSpPr>
          <p:cNvPr id="10" name="Text 8"/>
          <p:cNvSpPr/>
          <p:nvPr/>
        </p:nvSpPr>
        <p:spPr>
          <a:xfrm>
            <a:off x="1737360" y="2770632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days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737360" y="32918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737360" y="3621024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1901952" y="35478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CoinGecko: live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737360" y="3931920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1901952" y="3858768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Finance: live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4242816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1901952" y="4169664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Greed: live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737360" y="4553712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1901952" y="44805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Blockchain.info: live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657600" y="1801368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Cryptocurrency Market Analysis System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657600" y="2377440"/>
            <a:ext cx="709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0" y="2651760"/>
            <a:ext cx="709574" cy="0"/>
          </a:xfrm>
          <a:prstGeom prst="line">
            <a:avLst/>
          </a:prstGeom>
          <a:noFill/>
          <a:ln w="19050">
            <a:solidFill>
              <a:srgbClr val="00BC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76902" y="2377440"/>
            <a:ext cx="1302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&amp; Risk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88736" y="2377440"/>
            <a:ext cx="1038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Cycles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037222" y="2377440"/>
            <a:ext cx="9070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287000" y="235000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0" y="289864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PRICE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657600" y="3127248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$63,533.57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349240" y="289864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CHANGE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349240" y="3127248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−0.6%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040880" y="289864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ANN. VOLATILITY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040880" y="3127248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732520" y="289864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8732520" y="3127248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55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3657600" y="3703320"/>
          <a:ext cx="67665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&amp; Risk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exposed is this asset, and what's the worst realistic day look like? Answered in six numbers, live off BTC's current window.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01168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95% (1-DAY)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49808" y="228600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3.61%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804160" y="182880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9" name="Text 7"/>
          <p:cNvSpPr/>
          <p:nvPr/>
        </p:nvSpPr>
        <p:spPr>
          <a:xfrm>
            <a:off x="3005328" y="201168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 95%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005328" y="228600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5.16%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059680" y="182880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5260848" y="201168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260848" y="228600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5D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−53.0%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324612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42900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49808" y="370332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5D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−1.33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2804160" y="324612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3005328" y="342900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SORTINO RATIO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005328" y="370332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5D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−1.76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5059680" y="324612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21" name="Text 19"/>
          <p:cNvSpPr/>
          <p:nvPr/>
        </p:nvSpPr>
        <p:spPr>
          <a:xfrm>
            <a:off x="5260848" y="342900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REGIME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260848" y="370332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48640" y="4892040"/>
            <a:ext cx="6492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now BTC is showing a low volatility regime, but both risk-adjusted ratios are negative and the window's max drawdown sits at −53%. The numbers don't agree with each other by accident — that tension is exactly what the risk table is for.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0" y="1828800"/>
            <a:ext cx="4343400" cy="4069080"/>
          </a:xfrm>
          <a:prstGeom prst="roundRect">
            <a:avLst>
              <a:gd name="adj" fmla="val 1798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20574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ROLLING VOLATILITY (ANNUALISED)</a:t>
            </a:r>
            <a:endParaRPr lang="en-US" sz="9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7452360" y="2423160"/>
          <a:ext cx="40690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7589520" y="452628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/ Sortino penalise a bumpy ride toward a loss more than a bumpy ride toward a gain — which is why both can read negative even in a “low” volatility regime.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Cycles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rule-based read on where an asset sits in the Wyckoff cycle — trend, momentum, and drawdown, explainable at every step. No black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246120" cy="4160520"/>
          </a:xfrm>
          <a:prstGeom prst="roundRect">
            <a:avLst>
              <a:gd name="adj" fmla="val 2254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RIGHT NOW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Accumulation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(14)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391363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VS 200-DAY MA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22960" y="41422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−8.2%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4626864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DRAWDOWN FROM HIGH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" y="485546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−49.1%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206240" y="1783080"/>
            <a:ext cx="1691640" cy="1737360"/>
          </a:xfrm>
          <a:prstGeom prst="roundRect">
            <a:avLst>
              <a:gd name="adj" fmla="val 4324"/>
            </a:avLst>
          </a:prstGeom>
          <a:solidFill>
            <a:srgbClr val="00BCD4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901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34340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343400" y="265176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D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Downtrend losing momentum, or a deep, quiet base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4343400" y="33375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WE ARE HERE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1691640" cy="1737360"/>
          </a:xfrm>
          <a:prstGeom prst="roundRect">
            <a:avLst>
              <a:gd name="adj" fmla="val 4324"/>
            </a:avLst>
          </a:prstGeom>
          <a:solidFill>
            <a:srgbClr val="F1F5F6"/>
          </a:solidFill>
          <a:ln/>
        </p:spPr>
      </p:sp>
      <p:sp>
        <p:nvSpPr>
          <p:cNvPr id="20" name="Text 18"/>
          <p:cNvSpPr/>
          <p:nvPr/>
        </p:nvSpPr>
        <p:spPr>
          <a:xfrm>
            <a:off x="6263640" y="1901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26364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(Bull)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263640" y="265176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Uptrend with confirming momentum — RSI ≥ 55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8046720" y="1783080"/>
            <a:ext cx="1691640" cy="1737360"/>
          </a:xfrm>
          <a:prstGeom prst="roundRect">
            <a:avLst>
              <a:gd name="adj" fmla="val 4324"/>
            </a:avLst>
          </a:prstGeom>
          <a:solidFill>
            <a:srgbClr val="F1F5F6"/>
          </a:solidFill>
          <a:ln/>
        </p:spPr>
      </p:sp>
      <p:sp>
        <p:nvSpPr>
          <p:cNvPr id="24" name="Text 22"/>
          <p:cNvSpPr/>
          <p:nvPr/>
        </p:nvSpPr>
        <p:spPr>
          <a:xfrm>
            <a:off x="8183880" y="1901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18388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183880" y="265176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stalling near highs — supply meeting demand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9966960" y="1783080"/>
            <a:ext cx="1691640" cy="1737360"/>
          </a:xfrm>
          <a:prstGeom prst="roundRect">
            <a:avLst>
              <a:gd name="adj" fmla="val 4324"/>
            </a:avLst>
          </a:prstGeom>
          <a:solidFill>
            <a:srgbClr val="F1F5F6"/>
          </a:solidFill>
          <a:ln/>
        </p:spPr>
      </p:sp>
      <p:sp>
        <p:nvSpPr>
          <p:cNvPr id="28" name="Text 26"/>
          <p:cNvSpPr/>
          <p:nvPr/>
        </p:nvSpPr>
        <p:spPr>
          <a:xfrm>
            <a:off x="10104120" y="1901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010412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(Bear)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104120" y="265176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Downtrend with weak momentum and a deep decline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4206240" y="3749040"/>
            <a:ext cx="7452360" cy="2194560"/>
          </a:xfrm>
          <a:prstGeom prst="roundRect">
            <a:avLst>
              <a:gd name="adj" fmla="val 3333"/>
            </a:avLst>
          </a:prstGeom>
          <a:solidFill>
            <a:srgbClr val="F1F5F6"/>
          </a:solidFill>
          <a:ln/>
        </p:spPr>
      </p:sp>
      <p:sp>
        <p:nvSpPr>
          <p:cNvPr id="32" name="Text 30"/>
          <p:cNvSpPr/>
          <p:nvPr/>
        </p:nvSpPr>
        <p:spPr>
          <a:xfrm>
            <a:off x="4480560" y="3749040"/>
            <a:ext cx="6903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comes from the 50-day vs 200-day moving averages, momentum from a 14-day RSI, and severity from drawdown off the peak — three transparent signals feeding one label. When BTC's RSI recovers off a deep low even in a downtrend, the rule reads it as basing, not capitulation.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crypto actually diversify a portfolio? A single number says yes. Splitting the sample says otherwise.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to the S&amp;P 500 — calm markets vs. the worst 10% of equity days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920240"/>
          <a:ext cx="71323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4406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coin — no exceptions — becomes more correlated with equities on the days equities fall hardest.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18120" y="1572768"/>
            <a:ext cx="3840480" cy="1600200"/>
          </a:xfrm>
          <a:prstGeom prst="roundRect">
            <a:avLst>
              <a:gd name="adj" fmla="val 4571"/>
            </a:avLst>
          </a:prstGeom>
          <a:solidFill>
            <a:srgbClr val="F1F5F6"/>
          </a:solidFill>
          <a:ln/>
        </p:spPr>
      </p:sp>
      <p:sp>
        <p:nvSpPr>
          <p:cNvPr id="9" name="Text 6"/>
          <p:cNvSpPr/>
          <p:nvPr/>
        </p:nvSpPr>
        <p:spPr>
          <a:xfrm>
            <a:off x="8092440" y="17373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FULL-SAMPLE NUMBER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092440" y="199339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+0.07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8092440" y="25420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to S&amp;P 500 across all 250 days — near zero. On this alone, crypto looks like a perfect diversifier.</a:t>
            </a:r>
            <a:endParaRPr lang="en-US" sz="1030" dirty="0"/>
          </a:p>
        </p:txBody>
      </p:sp>
      <p:sp>
        <p:nvSpPr>
          <p:cNvPr id="12" name="Text 9"/>
          <p:cNvSpPr/>
          <p:nvPr/>
        </p:nvSpPr>
        <p:spPr>
          <a:xfrm>
            <a:off x="8092440" y="32552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split the sample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818120" y="3611880"/>
            <a:ext cx="3840480" cy="2331720"/>
          </a:xfrm>
          <a:prstGeom prst="roundRect">
            <a:avLst>
              <a:gd name="adj" fmla="val 3137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092440" y="37947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092440" y="411480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diversification is real when you don't need it, and weakens exactly when you do.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moves furthest — +0.10 to +0.32. A single full-window figure hides all of it.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Forecast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ARIMA model on the log-price series — validated honestly, and never dressed up as a price target.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485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ORDER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(0, 1, 0)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217420" y="1828800"/>
            <a:ext cx="1485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RMSE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17420" y="2103120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$899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886200" y="1828800"/>
            <a:ext cx="1485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MAPE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86200" y="2103120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1.10%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554980" y="1828800"/>
            <a:ext cx="1485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VS. NAIVE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554980" y="2103120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+0.0%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6675120" cy="1417320"/>
          </a:xfrm>
          <a:prstGeom prst="roundRect">
            <a:avLst>
              <a:gd name="adj" fmla="val 5161"/>
            </a:avLst>
          </a:prstGeom>
          <a:solidFill>
            <a:srgbClr val="1D2329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743200"/>
            <a:ext cx="6126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“ARIMA(0, 1, 0) did not beat the random-walk baseline this run. Read the interval as a range of outcomes, not a price target.”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4343400"/>
            <a:ext cx="6675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not a bug — it's the honest result for a near-random-walk asset, and the whole point of reporting skill against a naive baseline instead of a bare RMSE.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43800" y="182880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0" y="2011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30-DAY ARIMA FORECAST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7680960" y="2377440"/>
          <a:ext cx="39319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Coins, Five Macro Assets, Four Live Feeds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ASSETS TRACKED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572768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8" name="Text 6"/>
          <p:cNvSpPr/>
          <p:nvPr/>
        </p:nvSpPr>
        <p:spPr>
          <a:xfrm>
            <a:off x="1572768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96896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0" name="Text 8"/>
          <p:cNvSpPr/>
          <p:nvPr/>
        </p:nvSpPr>
        <p:spPr>
          <a:xfrm>
            <a:off x="2596896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21024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2" name="Text 10"/>
          <p:cNvSpPr/>
          <p:nvPr/>
        </p:nvSpPr>
        <p:spPr>
          <a:xfrm>
            <a:off x="3621024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45152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4" name="Text 12"/>
          <p:cNvSpPr/>
          <p:nvPr/>
        </p:nvSpPr>
        <p:spPr>
          <a:xfrm>
            <a:off x="4645152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0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0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2697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/ MACRO ASSETS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S&amp;P 500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338328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Gold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 Dollar Index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" y="411480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 10-Yr Yield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448056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Crude Oil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507492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77240" y="5074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feed is checked live. If one is unreachable, the system falls back to a deterministic synthetic dataset — the dashboard never goes down.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720840" y="15087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PROVIDERS (ALL FREE TIER)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20840" y="1874520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0840" y="1874520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28" name="Text 26"/>
          <p:cNvSpPr/>
          <p:nvPr/>
        </p:nvSpPr>
        <p:spPr>
          <a:xfrm>
            <a:off x="6995160" y="1965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CoinGecko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95160" y="23134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price, volume, market cap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20840" y="2862072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0840" y="2862072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32" name="Text 30"/>
          <p:cNvSpPr/>
          <p:nvPr/>
        </p:nvSpPr>
        <p:spPr>
          <a:xfrm>
            <a:off x="6995160" y="29535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95160" y="330098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500, gold, dollar index, yield, oil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720840" y="3849624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720840" y="3849624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36" name="Text 34"/>
          <p:cNvSpPr/>
          <p:nvPr/>
        </p:nvSpPr>
        <p:spPr>
          <a:xfrm>
            <a:off x="6995160" y="39410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alternative.me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95160" y="428853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 sentiment index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20840" y="4837176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39" name="Shape 37"/>
          <p:cNvSpPr/>
          <p:nvPr/>
        </p:nvSpPr>
        <p:spPr>
          <a:xfrm>
            <a:off x="6720840" y="4837176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40" name="Text 38"/>
          <p:cNvSpPr/>
          <p:nvPr/>
        </p:nvSpPr>
        <p:spPr>
          <a:xfrm>
            <a:off x="6995160" y="492861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Blockchain.info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995160" y="527608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on-chain transactions &amp; addresses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Feeds to Insight in One Pipeline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feed lands in a shared cache, gets assembled into one tidy bundle, then flows into four independent analyses feeding the same dashboard.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F1F5F6"/>
          </a:solidFill>
          <a:ln w="15875">
            <a:solidFill>
              <a:srgbClr val="DCE4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72491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3127248"/>
            <a:ext cx="16916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CoinGecko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Blockchain.info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2834640" y="256032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14181C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71800" y="272491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71800" y="3127248"/>
            <a:ext cx="16916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+ retry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6-hour disk cache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fallback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any failure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5120640" y="256032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00BCD4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57800" y="272491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MarketData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257800" y="3127248"/>
            <a:ext cx="16916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0D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bundle: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0D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· macro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0D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· on-chain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0D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per-feed status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7406640" y="2153412"/>
            <a:ext cx="1965960" cy="658368"/>
          </a:xfrm>
          <a:prstGeom prst="roundRect">
            <a:avLst>
              <a:gd name="adj" fmla="val 9722"/>
            </a:avLst>
          </a:prstGeom>
          <a:solidFill>
            <a:srgbClr val="14181C"/>
          </a:solidFill>
          <a:ln/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98080" y="215341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&amp; Risk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06640" y="2967228"/>
            <a:ext cx="1965960" cy="658368"/>
          </a:xfrm>
          <a:prstGeom prst="roundRect">
            <a:avLst>
              <a:gd name="adj" fmla="val 9722"/>
            </a:avLst>
          </a:prstGeom>
          <a:solidFill>
            <a:srgbClr val="14181C"/>
          </a:solidFill>
          <a:ln/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296722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Cycles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6640" y="3781044"/>
            <a:ext cx="1965960" cy="658368"/>
          </a:xfrm>
          <a:prstGeom prst="roundRect">
            <a:avLst>
              <a:gd name="adj" fmla="val 9722"/>
            </a:avLst>
          </a:prstGeom>
          <a:solidFill>
            <a:srgbClr val="14181C"/>
          </a:solidFill>
          <a:ln/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498080" y="378104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06640" y="4594860"/>
            <a:ext cx="1965960" cy="658368"/>
          </a:xfrm>
          <a:prstGeom prst="roundRect">
            <a:avLst>
              <a:gd name="adj" fmla="val 9722"/>
            </a:avLst>
          </a:prstGeom>
          <a:solidFill>
            <a:srgbClr val="14181C"/>
          </a:solidFill>
          <a:ln/>
          <a:effectLst>
            <a:outerShdw sx="100000" sy="100000" kx="0" ky="0" algn="bl" rotWithShape="0" blurRad="76200" dist="25400" dir="5400000">
              <a:srgbClr val="000000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98080" y="459486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Forecast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92640" y="2560320"/>
            <a:ext cx="1965960" cy="2286000"/>
          </a:xfrm>
          <a:prstGeom prst="roundRect">
            <a:avLst>
              <a:gd name="adj" fmla="val 3721"/>
            </a:avLst>
          </a:prstGeom>
          <a:solidFill>
            <a:srgbClr val="14181C"/>
          </a:solidFill>
          <a:ln w="15875">
            <a:solidFill>
              <a:srgbClr val="00BCD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829800" y="272491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829800" y="3127248"/>
            <a:ext cx="16916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Streamlit tabs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charts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/ sample</a:t>
            </a:r>
            <a:endParaRPr lang="en-US" sz="96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per feed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2551176" y="3703320"/>
            <a:ext cx="246888" cy="0"/>
          </a:xfrm>
          <a:prstGeom prst="line">
            <a:avLst/>
          </a:prstGeom>
          <a:noFill/>
          <a:ln w="22225">
            <a:solidFill>
              <a:srgbClr val="00BCD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837176" y="3703320"/>
            <a:ext cx="246888" cy="0"/>
          </a:xfrm>
          <a:prstGeom prst="line">
            <a:avLst/>
          </a:prstGeom>
          <a:noFill/>
          <a:ln w="22225">
            <a:solidFill>
              <a:srgbClr val="00BCD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123176" y="3703320"/>
            <a:ext cx="246888" cy="0"/>
          </a:xfrm>
          <a:prstGeom prst="line">
            <a:avLst/>
          </a:prstGeom>
          <a:noFill/>
          <a:ln w="22225">
            <a:solidFill>
              <a:srgbClr val="00BCD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409176" y="3703320"/>
            <a:ext cx="246888" cy="0"/>
          </a:xfrm>
          <a:prstGeom prst="line">
            <a:avLst/>
          </a:prstGeom>
          <a:noFill/>
          <a:ln w="22225">
            <a:solidFill>
              <a:srgbClr val="00BCD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1F5F6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5349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analysis reads the same bundle and depends on nothing else — a fifth one could be added without touching a single data loader.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Open-Source Python, End to End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proprietary dependencies — portable to any standard Python environment, including Streamlit Community Cloud.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4884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219456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60604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82880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9218" y="214884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12" name="Text 10"/>
          <p:cNvSpPr/>
          <p:nvPr/>
        </p:nvSpPr>
        <p:spPr>
          <a:xfrm>
            <a:off x="4719218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25058" y="219456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Handling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25058" y="260604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NumPy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49717" y="182880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69757" y="214884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17" name="Text 15"/>
          <p:cNvSpPr/>
          <p:nvPr/>
        </p:nvSpPr>
        <p:spPr>
          <a:xfrm>
            <a:off x="8569757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ƒ(x)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75597" y="219456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75597" y="260604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statsmodels, SciPy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411480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874520" y="416052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74520" y="457200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yfinance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99178" y="379476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19218" y="411480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27" name="Text 25"/>
          <p:cNvSpPr/>
          <p:nvPr/>
        </p:nvSpPr>
        <p:spPr>
          <a:xfrm>
            <a:off x="4719218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725058" y="416052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725058" y="457200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249717" y="379476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569757" y="411480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32" name="Text 30"/>
          <p:cNvSpPr/>
          <p:nvPr/>
        </p:nvSpPr>
        <p:spPr>
          <a:xfrm>
            <a:off x="8569757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75597" y="416052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575597" y="457200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Seeing Right Now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F1F5F6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709928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is reading Accumulation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00200" y="2029968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47, 8.2% below its 200-day average, 49% off the window high — a quiet base, not a trend.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F1F5F6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898648"/>
            <a:ext cx="566928" cy="56692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986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2825496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risk is real and visible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3145536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−1.33, Sortino −1.76 over this window. The risk table exists to surface that before you invest, not after.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31336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F1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014216"/>
            <a:ext cx="566928" cy="56692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0142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941064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is honest about its limits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00200" y="4261104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ARIMA(0,1,0) didn't beat a naive random-walk guess this run — exactly what a near-random-walk asset should produce.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F1F5F6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600200" y="5056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pipeline runs live, end to end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00200" y="5376672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tabs, four live feeds, validated with no runtime errors — this isn't a static mockup.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Scope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18608" cy="502920"/>
          </a:xfrm>
          <a:prstGeom prst="roundRect">
            <a:avLst>
              <a:gd name="adj" fmla="val 14545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5318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APIs cap history at roughly one year of daily data.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529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852928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uses the composite Fear &amp; Greed index, not raw social-text NLP.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419856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419856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metrics are limited to Bitcoin.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986784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986784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is linear — it misses regime shifts and non-linear dynamics.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553712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553712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and analytical only — not investment advice; no trade execution.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24448" y="1554480"/>
            <a:ext cx="5318608" cy="502920"/>
          </a:xfrm>
          <a:prstGeom prst="roundRect">
            <a:avLst>
              <a:gd name="adj" fmla="val 14545"/>
            </a:avLst>
          </a:prstGeom>
          <a:solidFill>
            <a:srgbClr val="00BCD4"/>
          </a:solidFill>
          <a:ln/>
        </p:spPr>
      </p:sp>
      <p:sp>
        <p:nvSpPr>
          <p:cNvPr id="17" name="Text 15"/>
          <p:cNvSpPr/>
          <p:nvPr/>
        </p:nvSpPr>
        <p:spPr>
          <a:xfrm>
            <a:off x="6324448" y="1554480"/>
            <a:ext cx="5318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4448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98768" y="2286000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forecasters (Prophet, exponential smoothing, LSTM) behind the same result interface.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24448" y="28529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98768" y="2852928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Portfolio-level view with correlation-weighted VaR across holdings.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24448" y="3419856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98768" y="3419856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social-media sentiment via NLP on news and social feeds.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24448" y="3986784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98768" y="3986784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on-chain analytics to more networks and richer metrics.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24448" y="4553712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98768" y="4553712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cloud deployment with scheduled refresh and alerting.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Product, Not</a:t>
            </a:r>
            <a:endParaRPr lang="en-US" sz="3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a Report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live analyses, six real-time data feeds, and a dashboard that's actually deployed and running — not a mockup, not a slide deck pretending to be software. It reports uncertainty honestly, degrades gracefully when a feed goes down, and gives a non-technical investor a coherent read on digital-asset risk in one place.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595360" y="30175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595360" y="36758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TRACKED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595360" y="40233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595360" y="46817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194560"/>
            <a:ext cx="5486400" cy="548640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4937760" cy="493776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37160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237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37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Garima Aishwarya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4669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669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Dikshant Pargai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01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01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Divyanshu Singh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533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533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Nayan Bansal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cryptomarketanalysis.streamlit.app  ·  github.com/garimaaish1111/crypto-market-analysis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2026-08-17T10:08:01Z</dcterms:created>
  <dcterms:modified xsi:type="dcterms:W3CDTF">2026-08-17T10:08:01Z</dcterms:modified>
</cp:coreProperties>
</file>