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charts/chart1.xml" ContentType="application/vnd.openxmlformats-officedocument.drawingml.chart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charts/chart2.xml" ContentType="application/vnd.openxmlformats-officedocument.drawingml.chart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charts/chart3.xml" ContentType="application/vnd.openxmlformats-officedocument.drawingml.chart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BTC</c:v>
                </c:pt>
              </c:strCache>
            </c:strRef>
          </c:tx>
          <c:spPr>
            <a:solidFill>
              <a:srgbClr val="00BCD4"/>
            </a:solidFill>
            <a:ln w="28575" cap="flat">
              <a:solidFill>
                <a:srgbClr val="00BCD4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none"/>
            <c:size val="6"/>
            <c:spPr>
              <a:solidFill>
                <a:srgbClr val="00BCD4"/>
              </a:solidFill>
              <a:ln w="9525" cap="flat">
                <a:solidFill>
                  <a:srgbClr val="00BCD4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Sheet1!$A$2:$A$13</c:f>
              <c:multiLvlStrCache>
                <c:ptCount val="12"/>
                <c:lvl>
                  <c:pt idx="0">
                    <c:v>S</c:v>
                  </c:pt>
                  <c:pt idx="1">
                    <c:v>O</c:v>
                  </c:pt>
                  <c:pt idx="2">
                    <c:v>N</c:v>
                  </c:pt>
                  <c:pt idx="3">
                    <c:v>D</c:v>
                  </c:pt>
                  <c:pt idx="4">
                    <c:v>J</c:v>
                  </c:pt>
                  <c:pt idx="5">
                    <c:v>F</c:v>
                  </c:pt>
                  <c:pt idx="6">
                    <c:v>M</c:v>
                  </c:pt>
                  <c:pt idx="7">
                    <c:v>A</c:v>
                  </c:pt>
                  <c:pt idx="8">
                    <c:v>M</c:v>
                  </c:pt>
                  <c:pt idx="9">
                    <c:v>J</c:v>
                  </c:pt>
                  <c:pt idx="10">
                    <c:v>J</c:v>
                  </c:pt>
                  <c:pt idx="11">
                    <c:v>A</c:v>
                  </c:pt>
                </c:lvl>
              </c:multiLvlStrCache>
            </c:multiLvlStrRef>
          </c:cat>
          <c:val>
            <c:numRef>
              <c:f>Sheet1!$B$2:$B$13</c:f>
              <c:numCache>
                <c:formatCode>General</c:formatCode>
                <c:ptCount val="12"/>
                <c:pt idx="0">
                  <c:v>98</c:v>
                </c:pt>
                <c:pt idx="1">
                  <c:v>101</c:v>
                </c:pt>
                <c:pt idx="2">
                  <c:v>92</c:v>
                </c:pt>
                <c:pt idx="3">
                  <c:v>78</c:v>
                </c:pt>
                <c:pt idx="4">
                  <c:v>82</c:v>
                </c:pt>
                <c:pt idx="5">
                  <c:v>75</c:v>
                </c:pt>
                <c:pt idx="6">
                  <c:v>70</c:v>
                </c:pt>
                <c:pt idx="7">
                  <c:v>68</c:v>
                </c:pt>
                <c:pt idx="8">
                  <c:v>65</c:v>
                </c:pt>
                <c:pt idx="9">
                  <c:v>61</c:v>
                </c:pt>
                <c:pt idx="10">
                  <c:v>63</c:v>
                </c:pt>
                <c:pt idx="11">
                  <c:v>63.5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3A444C"/>
            </a:solidFill>
            <a:prstDash val="solid"/>
            <a:round/>
          </a:ln>
        </c:spPr>
        <c:txPr>
          <a:bodyPr/>
          <a:lstStyle/>
          <a:p>
            <a:pPr>
              <a:defRPr sz="700" b="0" i="0" u="none" strike="noStrike">
                <a:solidFill>
                  <a:srgbClr val="9FB0B8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9525" cap="flat">
              <a:solidFill>
                <a:srgbClr val="2A333A"/>
              </a:solidFill>
              <a:prstDash val="solid"/>
              <a:round/>
            </a:ln>
          </c:spPr>
        </c:majorGridlines>
        <c:numFmt formatCode="$0k" sourceLinked="0"/>
        <c:majorTickMark val="out"/>
        <c:minorTickMark val="none"/>
        <c:tickLblPos val="nextTo"/>
        <c:spPr>
          <a:ln w="12700" cap="flat">
            <a:solidFill>
              <a:srgbClr val="3A444C"/>
            </a:solidFill>
            <a:prstDash val="solid"/>
            <a:round/>
          </a:ln>
        </c:spPr>
        <c:txPr>
          <a:bodyPr/>
          <a:lstStyle/>
          <a:p>
            <a:pPr>
              <a:defRPr sz="700" b="0" i="0" u="none" strike="noStrike">
                <a:solidFill>
                  <a:srgbClr val="9FB0B8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232A31"/>
        </a:solidFill>
        <a:ln>
          <a:noFill/>
        </a:ln>
        <a:effectLst/>
      </c:spPr>
    </c:plotArea>
    <c:plotVisOnly val="1"/>
    <c:dispBlanksAs val="span"/>
  </c:chart>
  <c:spPr>
    <a:solidFill>
      <a:srgbClr val="232A31"/>
    </a:solidFill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Vol</c:v>
                </c:pt>
              </c:strCache>
            </c:strRef>
          </c:tx>
          <c:spPr>
            <a:solidFill>
              <a:srgbClr val="00BCD4"/>
            </a:solidFill>
            <a:ln w="25400" cap="flat">
              <a:solidFill>
                <a:srgbClr val="00BCD4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none"/>
            <c:size val="6"/>
            <c:spPr>
              <a:solidFill>
                <a:srgbClr val="00BCD4"/>
              </a:solidFill>
              <a:ln w="9525" cap="flat">
                <a:solidFill>
                  <a:srgbClr val="00BCD4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Sheet1!$A$2:$A$13</c:f>
              <c:multiLvlStrCache>
                <c:ptCount val="12"/>
                <c:lvl>
                  <c:pt idx="0">
                    <c:v>S</c:v>
                  </c:pt>
                  <c:pt idx="1">
                    <c:v>O</c:v>
                  </c:pt>
                  <c:pt idx="2">
                    <c:v>N</c:v>
                  </c:pt>
                  <c:pt idx="3">
                    <c:v>D</c:v>
                  </c:pt>
                  <c:pt idx="4">
                    <c:v>J</c:v>
                  </c:pt>
                  <c:pt idx="5">
                    <c:v>F</c:v>
                  </c:pt>
                  <c:pt idx="6">
                    <c:v>M</c:v>
                  </c:pt>
                  <c:pt idx="7">
                    <c:v>A</c:v>
                  </c:pt>
                  <c:pt idx="8">
                    <c:v>M</c:v>
                  </c:pt>
                  <c:pt idx="9">
                    <c:v>J</c:v>
                  </c:pt>
                  <c:pt idx="10">
                    <c:v>J</c:v>
                  </c:pt>
                  <c:pt idx="11">
                    <c:v>A</c:v>
                  </c:pt>
                </c:lvl>
              </c:multiLvlStrCache>
            </c:multiLvlStrRef>
          </c:cat>
          <c:val>
            <c:numRef>
              <c:f>Sheet1!$B$2:$B$13</c:f>
              <c:numCache>
                <c:formatCode>General</c:formatCode>
                <c:ptCount val="12"/>
                <c:pt idx="0">
                  <c:v>0.38</c:v>
                </c:pt>
                <c:pt idx="1">
                  <c:v>0.42</c:v>
                </c:pt>
                <c:pt idx="2">
                  <c:v>0.55</c:v>
                </c:pt>
                <c:pt idx="3">
                  <c:v>0.48</c:v>
                </c:pt>
                <c:pt idx="4">
                  <c:v>0.6</c:v>
                </c:pt>
                <c:pt idx="5">
                  <c:v>0.71</c:v>
                </c:pt>
                <c:pt idx="6">
                  <c:v>0.58</c:v>
                </c:pt>
                <c:pt idx="7">
                  <c:v>0.5</c:v>
                </c:pt>
                <c:pt idx="8">
                  <c:v>0.45</c:v>
                </c:pt>
                <c:pt idx="9">
                  <c:v>0.4</c:v>
                </c:pt>
                <c:pt idx="10">
                  <c:v>0.43</c:v>
                </c:pt>
                <c:pt idx="11">
                  <c:v>0.43</c:v>
                </c:pt>
              </c:numCache>
            </c:numRef>
          </c:val>
          <c:smooth val="1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3A444C"/>
            </a:solidFill>
            <a:prstDash val="solid"/>
            <a:round/>
          </a:ln>
        </c:spPr>
        <c:txPr>
          <a:bodyPr/>
          <a:lstStyle/>
          <a:p>
            <a:pPr>
              <a:defRPr sz="700" b="0" i="0" u="none" strike="noStrike">
                <a:solidFill>
                  <a:srgbClr val="9FB0B8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9525" cap="flat">
              <a:solidFill>
                <a:srgbClr val="2A333A"/>
              </a:solidFill>
              <a:prstDash val="solid"/>
              <a:round/>
            </a:ln>
          </c:spPr>
        </c:majorGridlines>
        <c:numFmt formatCode="0%" sourceLinked="0"/>
        <c:majorTickMark val="out"/>
        <c:minorTickMark val="none"/>
        <c:tickLblPos val="nextTo"/>
        <c:spPr>
          <a:ln w="12700" cap="flat">
            <a:solidFill>
              <a:srgbClr val="3A444C"/>
            </a:solidFill>
            <a:prstDash val="solid"/>
            <a:round/>
          </a:ln>
        </c:spPr>
        <c:txPr>
          <a:bodyPr/>
          <a:lstStyle/>
          <a:p>
            <a:pPr>
              <a:defRPr sz="700" b="0" i="0" u="none" strike="noStrike">
                <a:solidFill>
                  <a:srgbClr val="9FB0B8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232A31"/>
        </a:solidFill>
        <a:ln>
          <a:noFill/>
        </a:ln>
        <a:effectLst/>
      </c:spPr>
    </c:plotArea>
    <c:plotVisOnly val="1"/>
    <c:dispBlanksAs val="span"/>
  </c:chart>
  <c:spPr>
    <a:solidFill>
      <a:srgbClr val="232A31"/>
    </a:solidFill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Actual</c:v>
                </c:pt>
              </c:strCache>
            </c:strRef>
          </c:tx>
          <c:spPr>
            <a:solidFill>
              <a:srgbClr val="F5F9FA"/>
            </a:solidFill>
            <a:ln w="25400" cap="flat">
              <a:solidFill>
                <a:srgbClr val="F5F9FA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none"/>
            <c:size val="6"/>
            <c:spPr>
              <a:solidFill>
                <a:srgbClr val="F5F9FA"/>
              </a:solidFill>
              <a:ln w="9525" cap="flat">
                <a:solidFill>
                  <a:srgbClr val="F5F9FA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Sheet1!$A$2:$A$12</c:f>
              <c:multiLvlStrCache>
                <c:ptCount val="11"/>
                <c:lvl>
                  <c:pt idx="0">
                    <c:v>-20</c:v>
                  </c:pt>
                  <c:pt idx="1">
                    <c:v>-15</c:v>
                  </c:pt>
                  <c:pt idx="2">
                    <c:v>-10</c:v>
                  </c:pt>
                  <c:pt idx="3">
                    <c:v>-5</c:v>
                  </c:pt>
                  <c:pt idx="4">
                    <c:v>0</c:v>
                  </c:pt>
                  <c:pt idx="5">
                    <c:v>5</c:v>
                  </c:pt>
                  <c:pt idx="6">
                    <c:v>10</c:v>
                  </c:pt>
                  <c:pt idx="7">
                    <c:v>15</c:v>
                  </c:pt>
                  <c:pt idx="8">
                    <c:v>20</c:v>
                  </c:pt>
                  <c:pt idx="9">
                    <c:v>25</c:v>
                  </c:pt>
                  <c:pt idx="10">
                    <c:v>30</c:v>
                  </c:pt>
                </c:lvl>
              </c:multiLvlStrCache>
            </c:multiLvlStrRef>
          </c:cat>
          <c:val>
            <c:numRef>
              <c:f>Sheet1!$B$2:$B$12</c:f>
              <c:numCache>
                <c:formatCode>General</c:formatCode>
                <c:ptCount val="11"/>
                <c:pt idx="0">
                  <c:v>66</c:v>
                </c:pt>
                <c:pt idx="1">
                  <c:v>65</c:v>
                </c:pt>
                <c:pt idx="2">
                  <c:v>63.5</c:v>
                </c:pt>
                <c:pt idx="3">
                  <c:v>64</c:v>
                </c:pt>
                <c:pt idx="4">
                  <c:v>63.5</c:v>
                </c:pt>
                <c:pt idx="5">
                  <c:v/>
                </c:pt>
                <c:pt idx="6">
                  <c:v/>
                </c:pt>
                <c:pt idx="7">
                  <c:v/>
                </c:pt>
                <c:pt idx="8">
                  <c:v/>
                </c:pt>
                <c:pt idx="9">
                  <c:v/>
                </c:pt>
                <c:pt idx="10">
                  <c:v/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Upper</c:v>
                </c:pt>
              </c:strCache>
            </c:strRef>
          </c:tx>
          <c:spPr>
            <a:solidFill>
              <a:srgbClr val="0097A7"/>
            </a:solidFill>
            <a:ln w="25400" cap="flat">
              <a:solidFill>
                <a:srgbClr val="0097A7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none"/>
            <c:size val="6"/>
            <c:spPr>
              <a:solidFill>
                <a:srgbClr val="0097A7"/>
              </a:solidFill>
              <a:ln w="9525" cap="flat">
                <a:solidFill>
                  <a:srgbClr val="0097A7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Sheet1!$A$2:$A$12</c:f>
              <c:multiLvlStrCache>
                <c:ptCount val="11"/>
                <c:lvl>
                  <c:pt idx="0">
                    <c:v>-20</c:v>
                  </c:pt>
                  <c:pt idx="1">
                    <c:v>-15</c:v>
                  </c:pt>
                  <c:pt idx="2">
                    <c:v>-10</c:v>
                  </c:pt>
                  <c:pt idx="3">
                    <c:v>-5</c:v>
                  </c:pt>
                  <c:pt idx="4">
                    <c:v>0</c:v>
                  </c:pt>
                  <c:pt idx="5">
                    <c:v>5</c:v>
                  </c:pt>
                  <c:pt idx="6">
                    <c:v>10</c:v>
                  </c:pt>
                  <c:pt idx="7">
                    <c:v>15</c:v>
                  </c:pt>
                  <c:pt idx="8">
                    <c:v>20</c:v>
                  </c:pt>
                  <c:pt idx="9">
                    <c:v>25</c:v>
                  </c:pt>
                  <c:pt idx="10">
                    <c:v>30</c:v>
                  </c:pt>
                </c:lvl>
              </c:multiLvlStrCache>
            </c:multiLvlStrRef>
          </c:cat>
          <c:val>
            <c:numRef>
              <c:f>Sheet1!$C$2:$C$12</c:f>
              <c:numCache>
                <c:formatCode>General</c:formatCode>
                <c:ptCount val="11"/>
                <c:pt idx="0">
                  <c:v/>
                </c:pt>
                <c:pt idx="1">
                  <c:v/>
                </c:pt>
                <c:pt idx="2">
                  <c:v/>
                </c:pt>
                <c:pt idx="3">
                  <c:v/>
                </c:pt>
                <c:pt idx="4">
                  <c:v>63.5</c:v>
                </c:pt>
                <c:pt idx="5">
                  <c:v>66</c:v>
                </c:pt>
                <c:pt idx="6">
                  <c:v>68</c:v>
                </c:pt>
                <c:pt idx="7">
                  <c:v>70</c:v>
                </c:pt>
                <c:pt idx="8">
                  <c:v>72</c:v>
                </c:pt>
                <c:pt idx="9">
                  <c:v>74</c:v>
                </c:pt>
                <c:pt idx="10">
                  <c:v>76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Lower</c:v>
                </c:pt>
              </c:strCache>
            </c:strRef>
          </c:tx>
          <c:spPr>
            <a:solidFill>
              <a:srgbClr val="0097A7"/>
            </a:solidFill>
            <a:ln w="25400" cap="flat">
              <a:solidFill>
                <a:srgbClr val="0097A7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none"/>
            <c:size val="6"/>
            <c:spPr>
              <a:solidFill>
                <a:srgbClr val="0097A7"/>
              </a:solidFill>
              <a:ln w="9525" cap="flat">
                <a:solidFill>
                  <a:srgbClr val="0097A7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Sheet1!$A$2:$A$12</c:f>
              <c:multiLvlStrCache>
                <c:ptCount val="11"/>
                <c:lvl>
                  <c:pt idx="0">
                    <c:v>-20</c:v>
                  </c:pt>
                  <c:pt idx="1">
                    <c:v>-15</c:v>
                  </c:pt>
                  <c:pt idx="2">
                    <c:v>-10</c:v>
                  </c:pt>
                  <c:pt idx="3">
                    <c:v>-5</c:v>
                  </c:pt>
                  <c:pt idx="4">
                    <c:v>0</c:v>
                  </c:pt>
                  <c:pt idx="5">
                    <c:v>5</c:v>
                  </c:pt>
                  <c:pt idx="6">
                    <c:v>10</c:v>
                  </c:pt>
                  <c:pt idx="7">
                    <c:v>15</c:v>
                  </c:pt>
                  <c:pt idx="8">
                    <c:v>20</c:v>
                  </c:pt>
                  <c:pt idx="9">
                    <c:v>25</c:v>
                  </c:pt>
                  <c:pt idx="10">
                    <c:v>30</c:v>
                  </c:pt>
                </c:lvl>
              </c:multiLvlStrCache>
            </c:multiLvlStrRef>
          </c:cat>
          <c:val>
            <c:numRef>
              <c:f>Sheet1!$D$2:$D$12</c:f>
              <c:numCache>
                <c:formatCode>General</c:formatCode>
                <c:ptCount val="11"/>
                <c:pt idx="0">
                  <c:v/>
                </c:pt>
                <c:pt idx="1">
                  <c:v/>
                </c:pt>
                <c:pt idx="2">
                  <c:v/>
                </c:pt>
                <c:pt idx="3">
                  <c:v/>
                </c:pt>
                <c:pt idx="4">
                  <c:v>63.5</c:v>
                </c:pt>
                <c:pt idx="5">
                  <c:v>61</c:v>
                </c:pt>
                <c:pt idx="6">
                  <c:v>59</c:v>
                </c:pt>
                <c:pt idx="7">
                  <c:v>57</c:v>
                </c:pt>
                <c:pt idx="8">
                  <c:v>55</c:v>
                </c:pt>
                <c:pt idx="9">
                  <c:v>53</c:v>
                </c:pt>
                <c:pt idx="10">
                  <c:v>51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3A444C"/>
            </a:solidFill>
            <a:prstDash val="solid"/>
            <a:round/>
          </a:ln>
        </c:spPr>
        <c:txPr>
          <a:bodyPr/>
          <a:lstStyle/>
          <a:p>
            <a:pPr>
              <a:defRPr sz="700" b="0" i="0" u="none" strike="noStrike">
                <a:solidFill>
                  <a:srgbClr val="9FB0B8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9525" cap="flat">
              <a:solidFill>
                <a:srgbClr val="2A333A"/>
              </a:solidFill>
              <a:prstDash val="solid"/>
              <a:round/>
            </a:ln>
          </c:spPr>
        </c:majorGridlines>
        <c:numFmt formatCode="$0k" sourceLinked="0"/>
        <c:majorTickMark val="out"/>
        <c:minorTickMark val="none"/>
        <c:tickLblPos val="nextTo"/>
        <c:spPr>
          <a:ln w="12700" cap="flat">
            <a:solidFill>
              <a:srgbClr val="3A444C"/>
            </a:solidFill>
            <a:prstDash val="solid"/>
            <a:round/>
          </a:ln>
        </c:spPr>
        <c:txPr>
          <a:bodyPr/>
          <a:lstStyle/>
          <a:p>
            <a:pPr>
              <a:defRPr sz="700" b="0" i="0" u="none" strike="noStrike">
                <a:solidFill>
                  <a:srgbClr val="9FB0B8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232A31"/>
        </a:solidFill>
        <a:ln>
          <a:noFill/>
        </a:ln>
        <a:effectLst/>
      </c:spPr>
    </c:plotArea>
    <c:plotVisOnly val="1"/>
    <c:dispBlanksAs val="span"/>
  </c:chart>
  <c:spPr>
    <a:solidFill>
      <a:srgbClr val="232A31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3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418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326880" y="-1828800"/>
            <a:ext cx="5486400" cy="5486400"/>
          </a:xfrm>
          <a:prstGeom prst="ellipse">
            <a:avLst/>
          </a:prstGeom>
          <a:solidFill>
            <a:srgbClr val="1D2329"/>
          </a:solidFill>
          <a:ln/>
        </p:spPr>
      </p:sp>
      <p:sp>
        <p:nvSpPr>
          <p:cNvPr id="3" name="Shape 1"/>
          <p:cNvSpPr/>
          <p:nvPr/>
        </p:nvSpPr>
        <p:spPr>
          <a:xfrm>
            <a:off x="10607040" y="-548640"/>
            <a:ext cx="2926080" cy="2926080"/>
          </a:xfrm>
          <a:prstGeom prst="ellipse">
            <a:avLst/>
          </a:prstGeom>
          <a:solidFill>
            <a:srgbClr val="00BCD4"/>
          </a:solidFill>
          <a:ln/>
        </p:spPr>
      </p:sp>
      <p:sp>
        <p:nvSpPr>
          <p:cNvPr id="4" name="Shape 2"/>
          <p:cNvSpPr/>
          <p:nvPr/>
        </p:nvSpPr>
        <p:spPr>
          <a:xfrm>
            <a:off x="-2194560" y="4206240"/>
            <a:ext cx="4754880" cy="4754880"/>
          </a:xfrm>
          <a:prstGeom prst="ellipse">
            <a:avLst/>
          </a:prstGeom>
          <a:solidFill>
            <a:srgbClr val="1D2329"/>
          </a:solidFill>
          <a:ln/>
        </p:spPr>
      </p:sp>
      <p:sp>
        <p:nvSpPr>
          <p:cNvPr id="5" name="Text 3"/>
          <p:cNvSpPr/>
          <p:nvPr/>
        </p:nvSpPr>
        <p:spPr>
          <a:xfrm>
            <a:off x="822960" y="141732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00BC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FINAL EVALUATION PRESENTATION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777240" y="1828800"/>
            <a:ext cx="9875520" cy="1920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5000" b="1" dirty="0">
                <a:solidFill>
                  <a:srgbClr val="F5F9F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Cryptocurrency Market</a:t>
            </a:r>
            <a:endParaRPr lang="en-US" sz="5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5000" b="1" dirty="0">
                <a:solidFill>
                  <a:srgbClr val="F5F9F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Analysis System</a:t>
            </a:r>
            <a:endParaRPr lang="en-US" sz="5000" dirty="0"/>
          </a:p>
        </p:txBody>
      </p:sp>
      <p:sp>
        <p:nvSpPr>
          <p:cNvPr id="7" name="Text 5"/>
          <p:cNvSpPr/>
          <p:nvPr/>
        </p:nvSpPr>
        <p:spPr>
          <a:xfrm>
            <a:off x="822960" y="3703320"/>
            <a:ext cx="87782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9FB0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live Streamlit dashboard that turns raw crypto data into volatility, cycle, correlation, and forecast calls you can actually act on.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822960" y="4892040"/>
            <a:ext cx="2514600" cy="777240"/>
          </a:xfrm>
          <a:prstGeom prst="roundRect">
            <a:avLst>
              <a:gd name="adj" fmla="val 8235"/>
            </a:avLst>
          </a:prstGeom>
          <a:solidFill>
            <a:srgbClr val="1D2329"/>
          </a:solidFill>
          <a:ln w="12700">
            <a:solidFill>
              <a:srgbClr val="2A333A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822960" y="4892040"/>
            <a:ext cx="25146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F5F9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Garima Aishwarya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3566160" y="4892040"/>
            <a:ext cx="2514600" cy="777240"/>
          </a:xfrm>
          <a:prstGeom prst="roundRect">
            <a:avLst>
              <a:gd name="adj" fmla="val 8235"/>
            </a:avLst>
          </a:prstGeom>
          <a:solidFill>
            <a:srgbClr val="1D2329"/>
          </a:solidFill>
          <a:ln w="12700">
            <a:solidFill>
              <a:srgbClr val="2A333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566160" y="4892040"/>
            <a:ext cx="25146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F5F9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Dikshant Pargai</a:t>
            </a:r>
            <a:endParaRPr lang="en-US" sz="1350" dirty="0"/>
          </a:p>
        </p:txBody>
      </p:sp>
      <p:sp>
        <p:nvSpPr>
          <p:cNvPr id="12" name="Shape 10"/>
          <p:cNvSpPr/>
          <p:nvPr/>
        </p:nvSpPr>
        <p:spPr>
          <a:xfrm>
            <a:off x="6309360" y="4892040"/>
            <a:ext cx="2514600" cy="777240"/>
          </a:xfrm>
          <a:prstGeom prst="roundRect">
            <a:avLst>
              <a:gd name="adj" fmla="val 8235"/>
            </a:avLst>
          </a:prstGeom>
          <a:solidFill>
            <a:srgbClr val="1D2329"/>
          </a:solidFill>
          <a:ln w="12700">
            <a:solidFill>
              <a:srgbClr val="2A333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309360" y="4892040"/>
            <a:ext cx="25146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F5F9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Divyanshu Singh</a:t>
            </a:r>
            <a:endParaRPr lang="en-US" sz="1350" dirty="0"/>
          </a:p>
        </p:txBody>
      </p:sp>
      <p:sp>
        <p:nvSpPr>
          <p:cNvPr id="14" name="Shape 12"/>
          <p:cNvSpPr/>
          <p:nvPr/>
        </p:nvSpPr>
        <p:spPr>
          <a:xfrm>
            <a:off x="9052560" y="4892040"/>
            <a:ext cx="2514600" cy="777240"/>
          </a:xfrm>
          <a:prstGeom prst="roundRect">
            <a:avLst>
              <a:gd name="adj" fmla="val 8235"/>
            </a:avLst>
          </a:prstGeom>
          <a:solidFill>
            <a:srgbClr val="1D2329"/>
          </a:solidFill>
          <a:ln w="12700">
            <a:solidFill>
              <a:srgbClr val="2A333A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9052560" y="4892040"/>
            <a:ext cx="25146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F5F9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Nayan Bansal</a:t>
            </a:r>
            <a:endParaRPr lang="en-US" sz="13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164592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spc="200" kern="0" dirty="0">
                <a:solidFill>
                  <a:srgbClr val="00BC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PROBLEM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411480"/>
            <a:ext cx="11094415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620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Crypto Data Is Everywhere. Insight Isn't.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548640" y="1463040"/>
            <a:ext cx="6035040" cy="1737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5000"/>
              </a:lnSpc>
              <a:buNone/>
            </a:pPr>
            <a:r>
              <a:rPr lang="en-US" sz="1600" dirty="0">
                <a:solidFill>
                  <a:srgbClr val="1620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Price feeds, on-chain activity, sentiment indexes, and macro data all live in different places, in different shapes. An investor chasing a clear, honest read on crypto risk has to stitch it together by hand — every time.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548640" y="3474720"/>
            <a:ext cx="6035040" cy="2057400"/>
          </a:xfrm>
          <a:prstGeom prst="roundRect">
            <a:avLst>
              <a:gd name="adj" fmla="val 3556"/>
            </a:avLst>
          </a:prstGeom>
          <a:solidFill>
            <a:srgbClr val="F1F5F6"/>
          </a:solidFill>
          <a:ln/>
          <a:effectLst>
            <a:outerShdw sx="100000" sy="100000" kx="0" ky="0" algn="bl" rotWithShape="0" blurRad="101600" dist="38100" dir="54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868680" y="3474720"/>
            <a:ext cx="5440680" cy="2057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650" b="1" i="1" dirty="0">
                <a:solidFill>
                  <a:srgbClr val="1620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 we built one dashboard that does the stitching for you — and shows its work.</a:t>
            </a:r>
            <a:endParaRPr lang="en-US" sz="1650" dirty="0"/>
          </a:p>
        </p:txBody>
      </p:sp>
      <p:sp>
        <p:nvSpPr>
          <p:cNvPr id="7" name="Shape 5"/>
          <p:cNvSpPr/>
          <p:nvPr/>
        </p:nvSpPr>
        <p:spPr>
          <a:xfrm>
            <a:off x="7178040" y="1554480"/>
            <a:ext cx="1965960" cy="594360"/>
          </a:xfrm>
          <a:prstGeom prst="roundRect">
            <a:avLst>
              <a:gd name="adj" fmla="val 49231"/>
            </a:avLst>
          </a:prstGeom>
          <a:solidFill>
            <a:srgbClr val="F1F5F6"/>
          </a:solidFill>
          <a:ln w="12700">
            <a:solidFill>
              <a:srgbClr val="DCE4E6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178040" y="1554480"/>
            <a:ext cx="196596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5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Price &amp; Volume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9326880" y="1965960"/>
            <a:ext cx="1965960" cy="594360"/>
          </a:xfrm>
          <a:prstGeom prst="roundRect">
            <a:avLst>
              <a:gd name="adj" fmla="val 49231"/>
            </a:avLst>
          </a:prstGeom>
          <a:solidFill>
            <a:srgbClr val="F1F5F6"/>
          </a:solidFill>
          <a:ln w="12700">
            <a:solidFill>
              <a:srgbClr val="DCE4E6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9326880" y="1965960"/>
            <a:ext cx="196596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5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On-chain Activity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7178040" y="2606040"/>
            <a:ext cx="1965960" cy="594360"/>
          </a:xfrm>
          <a:prstGeom prst="roundRect">
            <a:avLst>
              <a:gd name="adj" fmla="val 49231"/>
            </a:avLst>
          </a:prstGeom>
          <a:solidFill>
            <a:srgbClr val="F1F5F6"/>
          </a:solidFill>
          <a:ln w="12700">
            <a:solidFill>
              <a:srgbClr val="DCE4E6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178040" y="2606040"/>
            <a:ext cx="196596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5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Market Sentiment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9326880" y="3017520"/>
            <a:ext cx="1965960" cy="594360"/>
          </a:xfrm>
          <a:prstGeom prst="roundRect">
            <a:avLst>
              <a:gd name="adj" fmla="val 49231"/>
            </a:avLst>
          </a:prstGeom>
          <a:solidFill>
            <a:srgbClr val="F1F5F6"/>
          </a:solidFill>
          <a:ln w="12700">
            <a:solidFill>
              <a:srgbClr val="DCE4E6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9326880" y="3017520"/>
            <a:ext cx="196596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5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Macro Assets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8549640" y="3977640"/>
            <a:ext cx="1051560" cy="1051560"/>
          </a:xfrm>
          <a:prstGeom prst="ellipse">
            <a:avLst/>
          </a:prstGeom>
          <a:solidFill>
            <a:srgbClr val="14181C"/>
          </a:solidFill>
          <a:ln/>
        </p:spPr>
      </p:sp>
      <p:sp>
        <p:nvSpPr>
          <p:cNvPr id="16" name="Text 14"/>
          <p:cNvSpPr/>
          <p:nvPr/>
        </p:nvSpPr>
        <p:spPr>
          <a:xfrm>
            <a:off x="8549640" y="3977640"/>
            <a:ext cx="1051560" cy="1051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00BC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⇓</a:t>
            </a:r>
            <a:endParaRPr lang="en-US" sz="3000" dirty="0"/>
          </a:p>
        </p:txBody>
      </p:sp>
      <p:sp>
        <p:nvSpPr>
          <p:cNvPr id="17" name="Shape 15"/>
          <p:cNvSpPr/>
          <p:nvPr/>
        </p:nvSpPr>
        <p:spPr>
          <a:xfrm>
            <a:off x="7635240" y="5257800"/>
            <a:ext cx="2880360" cy="914400"/>
          </a:xfrm>
          <a:prstGeom prst="roundRect">
            <a:avLst>
              <a:gd name="adj" fmla="val 10000"/>
            </a:avLst>
          </a:prstGeom>
          <a:solidFill>
            <a:srgbClr val="14181C"/>
          </a:solidFill>
          <a:ln/>
          <a:effectLst>
            <a:outerShdw sx="100000" sy="100000" kx="0" ky="0" algn="bl" rotWithShape="0" blurRad="101600" dist="38100" dir="5400000">
              <a:srgbClr val="000000">
                <a:alpha val="20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7635240" y="5257800"/>
            <a:ext cx="288036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5F9F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One Dashboard</a:t>
            </a:r>
            <a:endParaRPr lang="en-US" sz="1700" dirty="0"/>
          </a:p>
        </p:txBody>
      </p:sp>
      <p:sp>
        <p:nvSpPr>
          <p:cNvPr id="19" name="Text 17"/>
          <p:cNvSpPr/>
          <p:nvPr/>
        </p:nvSpPr>
        <p:spPr>
          <a:xfrm>
            <a:off x="457200" y="6473952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Cryptocurrency Market Analysis System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11277295" y="6473952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418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164592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spc="200" kern="0" dirty="0">
                <a:solidFill>
                  <a:srgbClr val="00BC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PRODUCT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411480"/>
            <a:ext cx="11094415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F5F9F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One Dashboard, Four Live Analyses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548640" y="1051560"/>
            <a:ext cx="10515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9FB0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Streamlit + Plotly, pulling real data from CoinGecko, Yahoo Finance, alternative.me, and Blockchain.info right now.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1554480" y="1600200"/>
            <a:ext cx="9052560" cy="4663440"/>
          </a:xfrm>
          <a:prstGeom prst="roundRect">
            <a:avLst>
              <a:gd name="adj" fmla="val 1569"/>
            </a:avLst>
          </a:prstGeom>
          <a:solidFill>
            <a:srgbClr val="1D2329"/>
          </a:solidFill>
          <a:ln/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1554480" y="1600200"/>
            <a:ext cx="1920240" cy="4663440"/>
          </a:xfrm>
          <a:prstGeom prst="rect">
            <a:avLst/>
          </a:prstGeom>
          <a:solidFill>
            <a:srgbClr val="232A31"/>
          </a:solidFill>
          <a:ln/>
        </p:spPr>
      </p:sp>
      <p:sp>
        <p:nvSpPr>
          <p:cNvPr id="7" name="Text 5"/>
          <p:cNvSpPr/>
          <p:nvPr/>
        </p:nvSpPr>
        <p:spPr>
          <a:xfrm>
            <a:off x="1737360" y="1783080"/>
            <a:ext cx="16002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150" b="1" dirty="0">
                <a:solidFill>
                  <a:srgbClr val="F5F9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Crypto Market</a:t>
            </a:r>
            <a:endParaRPr lang="en-US" sz="115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150" b="1" dirty="0">
                <a:solidFill>
                  <a:srgbClr val="F5F9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Analysis</a:t>
            </a:r>
            <a:endParaRPr lang="en-US" sz="1150" dirty="0"/>
          </a:p>
        </p:txBody>
      </p:sp>
      <p:sp>
        <p:nvSpPr>
          <p:cNvPr id="8" name="Text 6"/>
          <p:cNvSpPr/>
          <p:nvPr/>
        </p:nvSpPr>
        <p:spPr>
          <a:xfrm>
            <a:off x="1737360" y="2514600"/>
            <a:ext cx="1600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spc="50" kern="0" dirty="0">
                <a:solidFill>
                  <a:srgbClr val="9FB0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HISTORY WINDOW</a:t>
            </a:r>
            <a:endParaRPr lang="en-US" sz="750" dirty="0"/>
          </a:p>
        </p:txBody>
      </p:sp>
      <p:sp>
        <p:nvSpPr>
          <p:cNvPr id="9" name="Shape 7"/>
          <p:cNvSpPr/>
          <p:nvPr/>
        </p:nvSpPr>
        <p:spPr>
          <a:xfrm>
            <a:off x="1737360" y="2770632"/>
            <a:ext cx="1600200" cy="292608"/>
          </a:xfrm>
          <a:prstGeom prst="roundRect">
            <a:avLst>
              <a:gd name="adj" fmla="val 50000"/>
            </a:avLst>
          </a:prstGeom>
          <a:solidFill>
            <a:srgbClr val="14181C"/>
          </a:solidFill>
          <a:ln/>
        </p:spPr>
      </p:sp>
      <p:sp>
        <p:nvSpPr>
          <p:cNvPr id="10" name="Text 8"/>
          <p:cNvSpPr/>
          <p:nvPr/>
        </p:nvSpPr>
        <p:spPr>
          <a:xfrm>
            <a:off x="1737360" y="2770632"/>
            <a:ext cx="16002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5F9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365 days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1737360" y="3291840"/>
            <a:ext cx="1600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spc="100" kern="0" dirty="0">
                <a:solidFill>
                  <a:srgbClr val="00BC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SOURCES</a:t>
            </a:r>
            <a:endParaRPr lang="en-US" sz="750" dirty="0"/>
          </a:p>
        </p:txBody>
      </p:sp>
      <p:sp>
        <p:nvSpPr>
          <p:cNvPr id="12" name="Shape 10"/>
          <p:cNvSpPr/>
          <p:nvPr/>
        </p:nvSpPr>
        <p:spPr>
          <a:xfrm>
            <a:off x="1737360" y="3621024"/>
            <a:ext cx="91440" cy="91440"/>
          </a:xfrm>
          <a:prstGeom prst="ellipse">
            <a:avLst/>
          </a:prstGeom>
          <a:solidFill>
            <a:srgbClr val="2ECC71"/>
          </a:solidFill>
          <a:ln/>
        </p:spPr>
      </p:sp>
      <p:sp>
        <p:nvSpPr>
          <p:cNvPr id="13" name="Text 11"/>
          <p:cNvSpPr/>
          <p:nvPr/>
        </p:nvSpPr>
        <p:spPr>
          <a:xfrm>
            <a:off x="1901952" y="3547872"/>
            <a:ext cx="14173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FB0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CoinGecko: live</a:t>
            </a:r>
            <a:endParaRPr lang="en-US" sz="800" dirty="0"/>
          </a:p>
        </p:txBody>
      </p:sp>
      <p:sp>
        <p:nvSpPr>
          <p:cNvPr id="14" name="Shape 12"/>
          <p:cNvSpPr/>
          <p:nvPr/>
        </p:nvSpPr>
        <p:spPr>
          <a:xfrm>
            <a:off x="1737360" y="3931920"/>
            <a:ext cx="91440" cy="91440"/>
          </a:xfrm>
          <a:prstGeom prst="ellipse">
            <a:avLst/>
          </a:prstGeom>
          <a:solidFill>
            <a:srgbClr val="2ECC71"/>
          </a:solidFill>
          <a:ln/>
        </p:spPr>
      </p:sp>
      <p:sp>
        <p:nvSpPr>
          <p:cNvPr id="15" name="Text 13"/>
          <p:cNvSpPr/>
          <p:nvPr/>
        </p:nvSpPr>
        <p:spPr>
          <a:xfrm>
            <a:off x="1901952" y="3858768"/>
            <a:ext cx="14173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FB0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Yahoo Finance: live</a:t>
            </a:r>
            <a:endParaRPr lang="en-US" sz="800" dirty="0"/>
          </a:p>
        </p:txBody>
      </p:sp>
      <p:sp>
        <p:nvSpPr>
          <p:cNvPr id="16" name="Shape 14"/>
          <p:cNvSpPr/>
          <p:nvPr/>
        </p:nvSpPr>
        <p:spPr>
          <a:xfrm>
            <a:off x="1737360" y="4242816"/>
            <a:ext cx="91440" cy="91440"/>
          </a:xfrm>
          <a:prstGeom prst="ellipse">
            <a:avLst/>
          </a:prstGeom>
          <a:solidFill>
            <a:srgbClr val="2ECC71"/>
          </a:solidFill>
          <a:ln/>
        </p:spPr>
      </p:sp>
      <p:sp>
        <p:nvSpPr>
          <p:cNvPr id="17" name="Text 15"/>
          <p:cNvSpPr/>
          <p:nvPr/>
        </p:nvSpPr>
        <p:spPr>
          <a:xfrm>
            <a:off x="1901952" y="4169664"/>
            <a:ext cx="14173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FB0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Fear &amp; Greed: live</a:t>
            </a:r>
            <a:endParaRPr lang="en-US" sz="800" dirty="0"/>
          </a:p>
        </p:txBody>
      </p:sp>
      <p:sp>
        <p:nvSpPr>
          <p:cNvPr id="18" name="Shape 16"/>
          <p:cNvSpPr/>
          <p:nvPr/>
        </p:nvSpPr>
        <p:spPr>
          <a:xfrm>
            <a:off x="1737360" y="4553712"/>
            <a:ext cx="91440" cy="91440"/>
          </a:xfrm>
          <a:prstGeom prst="ellipse">
            <a:avLst/>
          </a:prstGeom>
          <a:solidFill>
            <a:srgbClr val="2ECC71"/>
          </a:solidFill>
          <a:ln/>
        </p:spPr>
      </p:sp>
      <p:sp>
        <p:nvSpPr>
          <p:cNvPr id="19" name="Text 17"/>
          <p:cNvSpPr/>
          <p:nvPr/>
        </p:nvSpPr>
        <p:spPr>
          <a:xfrm>
            <a:off x="1901952" y="4480560"/>
            <a:ext cx="14173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FB0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Blockchain.info: live</a:t>
            </a:r>
            <a:endParaRPr lang="en-US" sz="800" dirty="0"/>
          </a:p>
        </p:txBody>
      </p:sp>
      <p:sp>
        <p:nvSpPr>
          <p:cNvPr id="20" name="Text 18"/>
          <p:cNvSpPr/>
          <p:nvPr/>
        </p:nvSpPr>
        <p:spPr>
          <a:xfrm>
            <a:off x="3657600" y="1801368"/>
            <a:ext cx="67665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5F9F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Cryptocurrency Market Analysis System</a:t>
            </a:r>
            <a:endParaRPr lang="en-US" sz="1700" dirty="0"/>
          </a:p>
        </p:txBody>
      </p:sp>
      <p:sp>
        <p:nvSpPr>
          <p:cNvPr id="21" name="Text 19"/>
          <p:cNvSpPr/>
          <p:nvPr/>
        </p:nvSpPr>
        <p:spPr>
          <a:xfrm>
            <a:off x="3657600" y="2377440"/>
            <a:ext cx="70957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F5F9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Overview</a:t>
            </a:r>
            <a:endParaRPr lang="en-US" sz="950" dirty="0"/>
          </a:p>
        </p:txBody>
      </p:sp>
      <p:sp>
        <p:nvSpPr>
          <p:cNvPr id="22" name="Shape 20"/>
          <p:cNvSpPr/>
          <p:nvPr/>
        </p:nvSpPr>
        <p:spPr>
          <a:xfrm>
            <a:off x="3657600" y="2651760"/>
            <a:ext cx="709574" cy="0"/>
          </a:xfrm>
          <a:prstGeom prst="line">
            <a:avLst/>
          </a:prstGeom>
          <a:noFill/>
          <a:ln w="19050">
            <a:solidFill>
              <a:srgbClr val="00BCD4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4476902" y="2377440"/>
            <a:ext cx="130210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FB0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Volatility &amp; Risk</a:t>
            </a:r>
            <a:endParaRPr lang="en-US" sz="950" dirty="0"/>
          </a:p>
        </p:txBody>
      </p:sp>
      <p:sp>
        <p:nvSpPr>
          <p:cNvPr id="24" name="Text 22"/>
          <p:cNvSpPr/>
          <p:nvPr/>
        </p:nvSpPr>
        <p:spPr>
          <a:xfrm>
            <a:off x="5888736" y="2377440"/>
            <a:ext cx="103875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FB0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Market Cycles</a:t>
            </a:r>
            <a:endParaRPr lang="en-US" sz="950" dirty="0"/>
          </a:p>
        </p:txBody>
      </p:sp>
      <p:sp>
        <p:nvSpPr>
          <p:cNvPr id="25" name="Text 23"/>
          <p:cNvSpPr/>
          <p:nvPr/>
        </p:nvSpPr>
        <p:spPr>
          <a:xfrm>
            <a:off x="7037222" y="2377440"/>
            <a:ext cx="90708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FB0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Correlation</a:t>
            </a:r>
            <a:endParaRPr lang="en-US" sz="950" dirty="0"/>
          </a:p>
        </p:txBody>
      </p:sp>
      <p:sp>
        <p:nvSpPr>
          <p:cNvPr id="26" name="Text 24"/>
          <p:cNvSpPr/>
          <p:nvPr/>
        </p:nvSpPr>
        <p:spPr>
          <a:xfrm>
            <a:off x="10287000" y="2350008"/>
            <a:ext cx="274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FB0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3657600" y="2898648"/>
            <a:ext cx="1600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spc="50" kern="0" dirty="0">
                <a:solidFill>
                  <a:srgbClr val="9FB0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BTC PRICE</a:t>
            </a:r>
            <a:endParaRPr lang="en-US" sz="750" dirty="0"/>
          </a:p>
        </p:txBody>
      </p:sp>
      <p:sp>
        <p:nvSpPr>
          <p:cNvPr id="28" name="Text 26"/>
          <p:cNvSpPr/>
          <p:nvPr/>
        </p:nvSpPr>
        <p:spPr>
          <a:xfrm>
            <a:off x="3657600" y="3127248"/>
            <a:ext cx="16002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F5F9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$63,533.57</a:t>
            </a:r>
            <a:endParaRPr lang="en-US" sz="1550" dirty="0"/>
          </a:p>
        </p:txBody>
      </p:sp>
      <p:sp>
        <p:nvSpPr>
          <p:cNvPr id="29" name="Text 27"/>
          <p:cNvSpPr/>
          <p:nvPr/>
        </p:nvSpPr>
        <p:spPr>
          <a:xfrm>
            <a:off x="5349240" y="2898648"/>
            <a:ext cx="1600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spc="50" kern="0" dirty="0">
                <a:solidFill>
                  <a:srgbClr val="9FB0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30-DAY CHANGE</a:t>
            </a:r>
            <a:endParaRPr lang="en-US" sz="750" dirty="0"/>
          </a:p>
        </p:txBody>
      </p:sp>
      <p:sp>
        <p:nvSpPr>
          <p:cNvPr id="30" name="Text 28"/>
          <p:cNvSpPr/>
          <p:nvPr/>
        </p:nvSpPr>
        <p:spPr>
          <a:xfrm>
            <a:off x="5349240" y="3127248"/>
            <a:ext cx="16002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F5F9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−0.6%</a:t>
            </a:r>
            <a:endParaRPr lang="en-US" sz="1550" dirty="0"/>
          </a:p>
        </p:txBody>
      </p:sp>
      <p:sp>
        <p:nvSpPr>
          <p:cNvPr id="31" name="Text 29"/>
          <p:cNvSpPr/>
          <p:nvPr/>
        </p:nvSpPr>
        <p:spPr>
          <a:xfrm>
            <a:off x="7040880" y="2898648"/>
            <a:ext cx="1600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spc="50" kern="0" dirty="0">
                <a:solidFill>
                  <a:srgbClr val="9FB0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ANN. VOLATILITY</a:t>
            </a:r>
            <a:endParaRPr lang="en-US" sz="750" dirty="0"/>
          </a:p>
        </p:txBody>
      </p:sp>
      <p:sp>
        <p:nvSpPr>
          <p:cNvPr id="32" name="Text 30"/>
          <p:cNvSpPr/>
          <p:nvPr/>
        </p:nvSpPr>
        <p:spPr>
          <a:xfrm>
            <a:off x="7040880" y="3127248"/>
            <a:ext cx="16002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F5F9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43%</a:t>
            </a:r>
            <a:endParaRPr lang="en-US" sz="1550" dirty="0"/>
          </a:p>
        </p:txBody>
      </p:sp>
      <p:sp>
        <p:nvSpPr>
          <p:cNvPr id="33" name="Text 31"/>
          <p:cNvSpPr/>
          <p:nvPr/>
        </p:nvSpPr>
        <p:spPr>
          <a:xfrm>
            <a:off x="8732520" y="2898648"/>
            <a:ext cx="1600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spc="50" kern="0" dirty="0">
                <a:solidFill>
                  <a:srgbClr val="9FB0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FEAR &amp; GREED</a:t>
            </a:r>
            <a:endParaRPr lang="en-US" sz="750" dirty="0"/>
          </a:p>
        </p:txBody>
      </p:sp>
      <p:sp>
        <p:nvSpPr>
          <p:cNvPr id="34" name="Text 32"/>
          <p:cNvSpPr/>
          <p:nvPr/>
        </p:nvSpPr>
        <p:spPr>
          <a:xfrm>
            <a:off x="8732520" y="3127248"/>
            <a:ext cx="16002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F5F9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31</a:t>
            </a:r>
            <a:endParaRPr lang="en-US" sz="1550" dirty="0"/>
          </a:p>
        </p:txBody>
      </p:sp>
      <p:graphicFrame>
        <p:nvGraphicFramePr>
          <p:cNvPr id="35" name="Chart 0" descr=""/>
          <p:cNvGraphicFramePr/>
          <p:nvPr/>
        </p:nvGraphicFramePr>
        <p:xfrm>
          <a:off x="3657600" y="3703320"/>
          <a:ext cx="6766560" cy="21488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36" name="Text 33"/>
          <p:cNvSpPr/>
          <p:nvPr/>
        </p:nvSpPr>
        <p:spPr>
          <a:xfrm>
            <a:off x="457200" y="6473952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9FB0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Cryptocurrency Market Analysis System</a:t>
            </a:r>
            <a:endParaRPr lang="en-US" sz="900" dirty="0"/>
          </a:p>
        </p:txBody>
      </p:sp>
      <p:sp>
        <p:nvSpPr>
          <p:cNvPr id="37" name="Text 34"/>
          <p:cNvSpPr/>
          <p:nvPr/>
        </p:nvSpPr>
        <p:spPr>
          <a:xfrm>
            <a:off x="11277295" y="6473952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FB0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164592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spc="200" kern="0" dirty="0">
                <a:solidFill>
                  <a:srgbClr val="00BC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FEATURE 01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411480"/>
            <a:ext cx="11094415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620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Volatility &amp; Risk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548640" y="1051560"/>
            <a:ext cx="10515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i="1" dirty="0">
                <a:solidFill>
                  <a:srgbClr val="5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exposed is this asset, and what's the worst realistic day look like? Answered in six numbers, live off BTC's current window.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548640" y="1828800"/>
            <a:ext cx="1981200" cy="1188720"/>
          </a:xfrm>
          <a:prstGeom prst="roundRect">
            <a:avLst>
              <a:gd name="adj" fmla="val 6154"/>
            </a:avLst>
          </a:prstGeom>
          <a:solidFill>
            <a:srgbClr val="F1F5F6"/>
          </a:solidFill>
          <a:ln/>
        </p:spPr>
      </p:sp>
      <p:sp>
        <p:nvSpPr>
          <p:cNvPr id="6" name="Text 4"/>
          <p:cNvSpPr/>
          <p:nvPr/>
        </p:nvSpPr>
        <p:spPr>
          <a:xfrm>
            <a:off x="749808" y="2011680"/>
            <a:ext cx="1615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50" kern="0" dirty="0">
                <a:solidFill>
                  <a:srgbClr val="5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VAR 95% (1-DAY)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749808" y="2286000"/>
            <a:ext cx="1615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620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3.61%</a:t>
            </a:r>
            <a:endParaRPr lang="en-US" sz="2400" dirty="0"/>
          </a:p>
        </p:txBody>
      </p:sp>
      <p:sp>
        <p:nvSpPr>
          <p:cNvPr id="8" name="Shape 6"/>
          <p:cNvSpPr/>
          <p:nvPr/>
        </p:nvSpPr>
        <p:spPr>
          <a:xfrm>
            <a:off x="2804160" y="1828800"/>
            <a:ext cx="1981200" cy="1188720"/>
          </a:xfrm>
          <a:prstGeom prst="roundRect">
            <a:avLst>
              <a:gd name="adj" fmla="val 6154"/>
            </a:avLst>
          </a:prstGeom>
          <a:solidFill>
            <a:srgbClr val="F1F5F6"/>
          </a:solidFill>
          <a:ln/>
        </p:spPr>
      </p:sp>
      <p:sp>
        <p:nvSpPr>
          <p:cNvPr id="9" name="Text 7"/>
          <p:cNvSpPr/>
          <p:nvPr/>
        </p:nvSpPr>
        <p:spPr>
          <a:xfrm>
            <a:off x="3005328" y="2011680"/>
            <a:ext cx="1615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50" kern="0" dirty="0">
                <a:solidFill>
                  <a:srgbClr val="5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CVAR 95%</a:t>
            </a:r>
            <a:endParaRPr lang="en-US" sz="950" dirty="0"/>
          </a:p>
        </p:txBody>
      </p:sp>
      <p:sp>
        <p:nvSpPr>
          <p:cNvPr id="10" name="Text 8"/>
          <p:cNvSpPr/>
          <p:nvPr/>
        </p:nvSpPr>
        <p:spPr>
          <a:xfrm>
            <a:off x="3005328" y="2286000"/>
            <a:ext cx="1615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620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5.16%</a:t>
            </a:r>
            <a:endParaRPr lang="en-US" sz="2400" dirty="0"/>
          </a:p>
        </p:txBody>
      </p:sp>
      <p:sp>
        <p:nvSpPr>
          <p:cNvPr id="11" name="Shape 9"/>
          <p:cNvSpPr/>
          <p:nvPr/>
        </p:nvSpPr>
        <p:spPr>
          <a:xfrm>
            <a:off x="5059680" y="1828800"/>
            <a:ext cx="1981200" cy="1188720"/>
          </a:xfrm>
          <a:prstGeom prst="roundRect">
            <a:avLst>
              <a:gd name="adj" fmla="val 6154"/>
            </a:avLst>
          </a:prstGeom>
          <a:solidFill>
            <a:srgbClr val="F1F5F6"/>
          </a:solidFill>
          <a:ln/>
        </p:spPr>
      </p:sp>
      <p:sp>
        <p:nvSpPr>
          <p:cNvPr id="12" name="Text 10"/>
          <p:cNvSpPr/>
          <p:nvPr/>
        </p:nvSpPr>
        <p:spPr>
          <a:xfrm>
            <a:off x="5260848" y="2011680"/>
            <a:ext cx="1615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50" kern="0" dirty="0">
                <a:solidFill>
                  <a:srgbClr val="5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MAX DRAWDOWN</a:t>
            </a:r>
            <a:endParaRPr lang="en-US" sz="950" dirty="0"/>
          </a:p>
        </p:txBody>
      </p:sp>
      <p:sp>
        <p:nvSpPr>
          <p:cNvPr id="13" name="Text 11"/>
          <p:cNvSpPr/>
          <p:nvPr/>
        </p:nvSpPr>
        <p:spPr>
          <a:xfrm>
            <a:off x="5260848" y="2286000"/>
            <a:ext cx="1615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E85D5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−53.0%</a:t>
            </a:r>
            <a:endParaRPr lang="en-US" sz="2400" dirty="0"/>
          </a:p>
        </p:txBody>
      </p:sp>
      <p:sp>
        <p:nvSpPr>
          <p:cNvPr id="14" name="Shape 12"/>
          <p:cNvSpPr/>
          <p:nvPr/>
        </p:nvSpPr>
        <p:spPr>
          <a:xfrm>
            <a:off x="548640" y="3246120"/>
            <a:ext cx="1981200" cy="1188720"/>
          </a:xfrm>
          <a:prstGeom prst="roundRect">
            <a:avLst>
              <a:gd name="adj" fmla="val 6154"/>
            </a:avLst>
          </a:prstGeom>
          <a:solidFill>
            <a:srgbClr val="F1F5F6"/>
          </a:solidFill>
          <a:ln/>
        </p:spPr>
      </p:sp>
      <p:sp>
        <p:nvSpPr>
          <p:cNvPr id="15" name="Text 13"/>
          <p:cNvSpPr/>
          <p:nvPr/>
        </p:nvSpPr>
        <p:spPr>
          <a:xfrm>
            <a:off x="749808" y="3429000"/>
            <a:ext cx="1615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50" kern="0" dirty="0">
                <a:solidFill>
                  <a:srgbClr val="5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SHARPE RATIO</a:t>
            </a:r>
            <a:endParaRPr lang="en-US" sz="950" dirty="0"/>
          </a:p>
        </p:txBody>
      </p:sp>
      <p:sp>
        <p:nvSpPr>
          <p:cNvPr id="16" name="Text 14"/>
          <p:cNvSpPr/>
          <p:nvPr/>
        </p:nvSpPr>
        <p:spPr>
          <a:xfrm>
            <a:off x="749808" y="3703320"/>
            <a:ext cx="1615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E85D5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−1.33</a:t>
            </a:r>
            <a:endParaRPr lang="en-US" sz="2400" dirty="0"/>
          </a:p>
        </p:txBody>
      </p:sp>
      <p:sp>
        <p:nvSpPr>
          <p:cNvPr id="17" name="Shape 15"/>
          <p:cNvSpPr/>
          <p:nvPr/>
        </p:nvSpPr>
        <p:spPr>
          <a:xfrm>
            <a:off x="2804160" y="3246120"/>
            <a:ext cx="1981200" cy="1188720"/>
          </a:xfrm>
          <a:prstGeom prst="roundRect">
            <a:avLst>
              <a:gd name="adj" fmla="val 6154"/>
            </a:avLst>
          </a:prstGeom>
          <a:solidFill>
            <a:srgbClr val="F1F5F6"/>
          </a:solidFill>
          <a:ln/>
        </p:spPr>
      </p:sp>
      <p:sp>
        <p:nvSpPr>
          <p:cNvPr id="18" name="Text 16"/>
          <p:cNvSpPr/>
          <p:nvPr/>
        </p:nvSpPr>
        <p:spPr>
          <a:xfrm>
            <a:off x="3005328" y="3429000"/>
            <a:ext cx="1615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50" kern="0" dirty="0">
                <a:solidFill>
                  <a:srgbClr val="5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SORTINO RATIO</a:t>
            </a:r>
            <a:endParaRPr lang="en-US" sz="950" dirty="0"/>
          </a:p>
        </p:txBody>
      </p:sp>
      <p:sp>
        <p:nvSpPr>
          <p:cNvPr id="19" name="Text 17"/>
          <p:cNvSpPr/>
          <p:nvPr/>
        </p:nvSpPr>
        <p:spPr>
          <a:xfrm>
            <a:off x="3005328" y="3703320"/>
            <a:ext cx="1615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E85D5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−1.76</a:t>
            </a:r>
            <a:endParaRPr lang="en-US" sz="2400" dirty="0"/>
          </a:p>
        </p:txBody>
      </p:sp>
      <p:sp>
        <p:nvSpPr>
          <p:cNvPr id="20" name="Shape 18"/>
          <p:cNvSpPr/>
          <p:nvPr/>
        </p:nvSpPr>
        <p:spPr>
          <a:xfrm>
            <a:off x="5059680" y="3246120"/>
            <a:ext cx="1981200" cy="1188720"/>
          </a:xfrm>
          <a:prstGeom prst="roundRect">
            <a:avLst>
              <a:gd name="adj" fmla="val 6154"/>
            </a:avLst>
          </a:prstGeom>
          <a:solidFill>
            <a:srgbClr val="F1F5F6"/>
          </a:solidFill>
          <a:ln/>
        </p:spPr>
      </p:sp>
      <p:sp>
        <p:nvSpPr>
          <p:cNvPr id="21" name="Text 19"/>
          <p:cNvSpPr/>
          <p:nvPr/>
        </p:nvSpPr>
        <p:spPr>
          <a:xfrm>
            <a:off x="5260848" y="3429000"/>
            <a:ext cx="1615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50" kern="0" dirty="0">
                <a:solidFill>
                  <a:srgbClr val="5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VOLATILITY REGIME</a:t>
            </a:r>
            <a:endParaRPr lang="en-US" sz="950" dirty="0"/>
          </a:p>
        </p:txBody>
      </p:sp>
      <p:sp>
        <p:nvSpPr>
          <p:cNvPr id="22" name="Text 20"/>
          <p:cNvSpPr/>
          <p:nvPr/>
        </p:nvSpPr>
        <p:spPr>
          <a:xfrm>
            <a:off x="5260848" y="3703320"/>
            <a:ext cx="1615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2ECC7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Low</a:t>
            </a:r>
            <a:endParaRPr lang="en-US" sz="2400" dirty="0"/>
          </a:p>
        </p:txBody>
      </p:sp>
      <p:sp>
        <p:nvSpPr>
          <p:cNvPr id="23" name="Text 21"/>
          <p:cNvSpPr/>
          <p:nvPr/>
        </p:nvSpPr>
        <p:spPr>
          <a:xfrm>
            <a:off x="548640" y="4892040"/>
            <a:ext cx="649224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5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Right now BTC is showing a low volatility regime, but both risk-adjusted ratios are negative and the window's max drawdown sits at −53%. The numbers don't agree with each other by accident — that tension is exactly what the risk table is for.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7315200" y="1828800"/>
            <a:ext cx="4343400" cy="4069080"/>
          </a:xfrm>
          <a:prstGeom prst="roundRect">
            <a:avLst>
              <a:gd name="adj" fmla="val 1798"/>
            </a:avLst>
          </a:prstGeom>
          <a:solidFill>
            <a:srgbClr val="1D2329"/>
          </a:solidFill>
          <a:ln/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25" name="Text 23"/>
          <p:cNvSpPr/>
          <p:nvPr/>
        </p:nvSpPr>
        <p:spPr>
          <a:xfrm>
            <a:off x="7589520" y="2057400"/>
            <a:ext cx="3840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50" kern="0" dirty="0">
                <a:solidFill>
                  <a:srgbClr val="9FB0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BTC ROLLING VOLATILITY (ANNUALISED)</a:t>
            </a:r>
            <a:endParaRPr lang="en-US" sz="900" dirty="0"/>
          </a:p>
        </p:txBody>
      </p:sp>
      <p:graphicFrame>
        <p:nvGraphicFramePr>
          <p:cNvPr id="26" name="Chart 0" descr=""/>
          <p:cNvGraphicFramePr/>
          <p:nvPr/>
        </p:nvGraphicFramePr>
        <p:xfrm>
          <a:off x="7452360" y="2423160"/>
          <a:ext cx="4069080" cy="19202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27" name="Text 24"/>
          <p:cNvSpPr/>
          <p:nvPr/>
        </p:nvSpPr>
        <p:spPr>
          <a:xfrm>
            <a:off x="7589520" y="4526280"/>
            <a:ext cx="384048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000" i="1" dirty="0">
                <a:solidFill>
                  <a:srgbClr val="9FB0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Sharpe / Sortino penalise a bumpy ride toward a loss more than a bumpy ride toward a gain — which is why both can read negative even in a “low” volatility regime.</a:t>
            </a:r>
            <a:endParaRPr lang="en-US" sz="1000" dirty="0"/>
          </a:p>
        </p:txBody>
      </p:sp>
      <p:sp>
        <p:nvSpPr>
          <p:cNvPr id="28" name="Text 25"/>
          <p:cNvSpPr/>
          <p:nvPr/>
        </p:nvSpPr>
        <p:spPr>
          <a:xfrm>
            <a:off x="457200" y="6473952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Cryptocurrency Market Analysis System</a:t>
            </a:r>
            <a:endParaRPr lang="en-US" sz="900" dirty="0"/>
          </a:p>
        </p:txBody>
      </p:sp>
      <p:sp>
        <p:nvSpPr>
          <p:cNvPr id="29" name="Text 26"/>
          <p:cNvSpPr/>
          <p:nvPr/>
        </p:nvSpPr>
        <p:spPr>
          <a:xfrm>
            <a:off x="11277295" y="6473952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164592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spc="200" kern="0" dirty="0">
                <a:solidFill>
                  <a:srgbClr val="00BC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FEATURE 02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411480"/>
            <a:ext cx="11094415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620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Market Cycles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548640" y="1051560"/>
            <a:ext cx="10515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i="1" dirty="0">
                <a:solidFill>
                  <a:srgbClr val="5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rule-based read on where an asset sits in the Wyckoff cycle — trend, momentum, and drawdown, explainable at every step. No black box.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548640" y="1783080"/>
            <a:ext cx="3246120" cy="4160520"/>
          </a:xfrm>
          <a:prstGeom prst="roundRect">
            <a:avLst>
              <a:gd name="adj" fmla="val 2254"/>
            </a:avLst>
          </a:prstGeom>
          <a:solidFill>
            <a:srgbClr val="1D2329"/>
          </a:solidFill>
          <a:ln/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822960" y="201168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spc="100" kern="0" dirty="0">
                <a:solidFill>
                  <a:srgbClr val="00BC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BTC RIGHT NOW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822960" y="2331720"/>
            <a:ext cx="27432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5F9F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Accumulation</a:t>
            </a:r>
            <a:endParaRPr lang="en-US" sz="2600" dirty="0"/>
          </a:p>
        </p:txBody>
      </p:sp>
      <p:sp>
        <p:nvSpPr>
          <p:cNvPr id="8" name="Text 6"/>
          <p:cNvSpPr/>
          <p:nvPr/>
        </p:nvSpPr>
        <p:spPr>
          <a:xfrm>
            <a:off x="822960" y="3200400"/>
            <a:ext cx="2743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spc="50" kern="0" dirty="0">
                <a:solidFill>
                  <a:srgbClr val="9FB0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RSI (14)</a:t>
            </a:r>
            <a:endParaRPr lang="en-US" sz="850" dirty="0"/>
          </a:p>
        </p:txBody>
      </p:sp>
      <p:sp>
        <p:nvSpPr>
          <p:cNvPr id="9" name="Text 7"/>
          <p:cNvSpPr/>
          <p:nvPr/>
        </p:nvSpPr>
        <p:spPr>
          <a:xfrm>
            <a:off x="822960" y="342900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5F9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47</a:t>
            </a:r>
            <a:endParaRPr lang="en-US" sz="1700" dirty="0"/>
          </a:p>
        </p:txBody>
      </p:sp>
      <p:sp>
        <p:nvSpPr>
          <p:cNvPr id="10" name="Text 8"/>
          <p:cNvSpPr/>
          <p:nvPr/>
        </p:nvSpPr>
        <p:spPr>
          <a:xfrm>
            <a:off x="822960" y="3913632"/>
            <a:ext cx="2743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spc="50" kern="0" dirty="0">
                <a:solidFill>
                  <a:srgbClr val="9FB0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PRICE VS 200-DAY MA</a:t>
            </a:r>
            <a:endParaRPr lang="en-US" sz="850" dirty="0"/>
          </a:p>
        </p:txBody>
      </p:sp>
      <p:sp>
        <p:nvSpPr>
          <p:cNvPr id="11" name="Text 9"/>
          <p:cNvSpPr/>
          <p:nvPr/>
        </p:nvSpPr>
        <p:spPr>
          <a:xfrm>
            <a:off x="822960" y="4142232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5F9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−8.2%</a:t>
            </a:r>
            <a:endParaRPr lang="en-US" sz="1700" dirty="0"/>
          </a:p>
        </p:txBody>
      </p:sp>
      <p:sp>
        <p:nvSpPr>
          <p:cNvPr id="12" name="Text 10"/>
          <p:cNvSpPr/>
          <p:nvPr/>
        </p:nvSpPr>
        <p:spPr>
          <a:xfrm>
            <a:off x="822960" y="4626864"/>
            <a:ext cx="2743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spc="50" kern="0" dirty="0">
                <a:solidFill>
                  <a:srgbClr val="9FB0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DRAWDOWN FROM HIGH</a:t>
            </a:r>
            <a:endParaRPr lang="en-US" sz="850" dirty="0"/>
          </a:p>
        </p:txBody>
      </p:sp>
      <p:sp>
        <p:nvSpPr>
          <p:cNvPr id="13" name="Text 11"/>
          <p:cNvSpPr/>
          <p:nvPr/>
        </p:nvSpPr>
        <p:spPr>
          <a:xfrm>
            <a:off x="822960" y="4855464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5F9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−49.1%</a:t>
            </a:r>
            <a:endParaRPr lang="en-US" sz="1700" dirty="0"/>
          </a:p>
        </p:txBody>
      </p:sp>
      <p:sp>
        <p:nvSpPr>
          <p:cNvPr id="14" name="Shape 12"/>
          <p:cNvSpPr/>
          <p:nvPr/>
        </p:nvSpPr>
        <p:spPr>
          <a:xfrm>
            <a:off x="4206240" y="1783080"/>
            <a:ext cx="1691640" cy="1737360"/>
          </a:xfrm>
          <a:prstGeom prst="roundRect">
            <a:avLst>
              <a:gd name="adj" fmla="val 4324"/>
            </a:avLst>
          </a:prstGeom>
          <a:solidFill>
            <a:srgbClr val="00BCD4"/>
          </a:solidFill>
          <a:ln/>
        </p:spPr>
      </p:sp>
      <p:sp>
        <p:nvSpPr>
          <p:cNvPr id="15" name="Text 13"/>
          <p:cNvSpPr/>
          <p:nvPr/>
        </p:nvSpPr>
        <p:spPr>
          <a:xfrm>
            <a:off x="4343400" y="1901952"/>
            <a:ext cx="548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4181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700" dirty="0"/>
          </a:p>
        </p:txBody>
      </p:sp>
      <p:sp>
        <p:nvSpPr>
          <p:cNvPr id="16" name="Text 14"/>
          <p:cNvSpPr/>
          <p:nvPr/>
        </p:nvSpPr>
        <p:spPr>
          <a:xfrm>
            <a:off x="4343400" y="2286000"/>
            <a:ext cx="1417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418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Accumulation</a:t>
            </a:r>
            <a:endParaRPr lang="en-US" sz="1250" dirty="0"/>
          </a:p>
        </p:txBody>
      </p:sp>
      <p:sp>
        <p:nvSpPr>
          <p:cNvPr id="17" name="Text 15"/>
          <p:cNvSpPr/>
          <p:nvPr/>
        </p:nvSpPr>
        <p:spPr>
          <a:xfrm>
            <a:off x="4343400" y="2651760"/>
            <a:ext cx="141732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930" dirty="0">
                <a:solidFill>
                  <a:srgbClr val="0D3B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Downtrend losing momentum, or a deep, quiet base</a:t>
            </a:r>
            <a:endParaRPr lang="en-US" sz="930" dirty="0"/>
          </a:p>
        </p:txBody>
      </p:sp>
      <p:sp>
        <p:nvSpPr>
          <p:cNvPr id="18" name="Text 16"/>
          <p:cNvSpPr/>
          <p:nvPr/>
        </p:nvSpPr>
        <p:spPr>
          <a:xfrm>
            <a:off x="4343400" y="3337560"/>
            <a:ext cx="14173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1418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● WE ARE HERE</a:t>
            </a:r>
            <a:endParaRPr lang="en-US" sz="800" dirty="0"/>
          </a:p>
        </p:txBody>
      </p:sp>
      <p:sp>
        <p:nvSpPr>
          <p:cNvPr id="19" name="Shape 17"/>
          <p:cNvSpPr/>
          <p:nvPr/>
        </p:nvSpPr>
        <p:spPr>
          <a:xfrm>
            <a:off x="6126480" y="1783080"/>
            <a:ext cx="1691640" cy="1737360"/>
          </a:xfrm>
          <a:prstGeom prst="roundRect">
            <a:avLst>
              <a:gd name="adj" fmla="val 4324"/>
            </a:avLst>
          </a:prstGeom>
          <a:solidFill>
            <a:srgbClr val="F1F5F6"/>
          </a:solidFill>
          <a:ln/>
        </p:spPr>
      </p:sp>
      <p:sp>
        <p:nvSpPr>
          <p:cNvPr id="20" name="Text 18"/>
          <p:cNvSpPr/>
          <p:nvPr/>
        </p:nvSpPr>
        <p:spPr>
          <a:xfrm>
            <a:off x="6263640" y="1901952"/>
            <a:ext cx="548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097A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700" dirty="0"/>
          </a:p>
        </p:txBody>
      </p:sp>
      <p:sp>
        <p:nvSpPr>
          <p:cNvPr id="21" name="Text 19"/>
          <p:cNvSpPr/>
          <p:nvPr/>
        </p:nvSpPr>
        <p:spPr>
          <a:xfrm>
            <a:off x="6263640" y="2286000"/>
            <a:ext cx="1417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620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Markup (Bull)</a:t>
            </a:r>
            <a:endParaRPr lang="en-US" sz="1250" dirty="0"/>
          </a:p>
        </p:txBody>
      </p:sp>
      <p:sp>
        <p:nvSpPr>
          <p:cNvPr id="22" name="Text 20"/>
          <p:cNvSpPr/>
          <p:nvPr/>
        </p:nvSpPr>
        <p:spPr>
          <a:xfrm>
            <a:off x="6263640" y="2651760"/>
            <a:ext cx="141732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930" dirty="0">
                <a:solidFill>
                  <a:srgbClr val="5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Uptrend with confirming momentum — RSI ≥ 55</a:t>
            </a:r>
            <a:endParaRPr lang="en-US" sz="930" dirty="0"/>
          </a:p>
        </p:txBody>
      </p:sp>
      <p:sp>
        <p:nvSpPr>
          <p:cNvPr id="23" name="Shape 21"/>
          <p:cNvSpPr/>
          <p:nvPr/>
        </p:nvSpPr>
        <p:spPr>
          <a:xfrm>
            <a:off x="8046720" y="1783080"/>
            <a:ext cx="1691640" cy="1737360"/>
          </a:xfrm>
          <a:prstGeom prst="roundRect">
            <a:avLst>
              <a:gd name="adj" fmla="val 4324"/>
            </a:avLst>
          </a:prstGeom>
          <a:solidFill>
            <a:srgbClr val="F1F5F6"/>
          </a:solidFill>
          <a:ln/>
        </p:spPr>
      </p:sp>
      <p:sp>
        <p:nvSpPr>
          <p:cNvPr id="24" name="Text 22"/>
          <p:cNvSpPr/>
          <p:nvPr/>
        </p:nvSpPr>
        <p:spPr>
          <a:xfrm>
            <a:off x="8183880" y="1901952"/>
            <a:ext cx="548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097A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700" dirty="0"/>
          </a:p>
        </p:txBody>
      </p:sp>
      <p:sp>
        <p:nvSpPr>
          <p:cNvPr id="25" name="Text 23"/>
          <p:cNvSpPr/>
          <p:nvPr/>
        </p:nvSpPr>
        <p:spPr>
          <a:xfrm>
            <a:off x="8183880" y="2286000"/>
            <a:ext cx="1417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620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Distribution</a:t>
            </a:r>
            <a:endParaRPr lang="en-US" sz="1250" dirty="0"/>
          </a:p>
        </p:txBody>
      </p:sp>
      <p:sp>
        <p:nvSpPr>
          <p:cNvPr id="26" name="Text 24"/>
          <p:cNvSpPr/>
          <p:nvPr/>
        </p:nvSpPr>
        <p:spPr>
          <a:xfrm>
            <a:off x="8183880" y="2651760"/>
            <a:ext cx="141732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930" dirty="0">
                <a:solidFill>
                  <a:srgbClr val="5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Advance stalling near highs — supply meeting demand</a:t>
            </a:r>
            <a:endParaRPr lang="en-US" sz="930" dirty="0"/>
          </a:p>
        </p:txBody>
      </p:sp>
      <p:sp>
        <p:nvSpPr>
          <p:cNvPr id="27" name="Shape 25"/>
          <p:cNvSpPr/>
          <p:nvPr/>
        </p:nvSpPr>
        <p:spPr>
          <a:xfrm>
            <a:off x="9966960" y="1783080"/>
            <a:ext cx="1691640" cy="1737360"/>
          </a:xfrm>
          <a:prstGeom prst="roundRect">
            <a:avLst>
              <a:gd name="adj" fmla="val 4324"/>
            </a:avLst>
          </a:prstGeom>
          <a:solidFill>
            <a:srgbClr val="F1F5F6"/>
          </a:solidFill>
          <a:ln/>
        </p:spPr>
      </p:sp>
      <p:sp>
        <p:nvSpPr>
          <p:cNvPr id="28" name="Text 26"/>
          <p:cNvSpPr/>
          <p:nvPr/>
        </p:nvSpPr>
        <p:spPr>
          <a:xfrm>
            <a:off x="10104120" y="1901952"/>
            <a:ext cx="548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097A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700" dirty="0"/>
          </a:p>
        </p:txBody>
      </p:sp>
      <p:sp>
        <p:nvSpPr>
          <p:cNvPr id="29" name="Text 27"/>
          <p:cNvSpPr/>
          <p:nvPr/>
        </p:nvSpPr>
        <p:spPr>
          <a:xfrm>
            <a:off x="10104120" y="2286000"/>
            <a:ext cx="1417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620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Markdown (Bear)</a:t>
            </a:r>
            <a:endParaRPr lang="en-US" sz="1250" dirty="0"/>
          </a:p>
        </p:txBody>
      </p:sp>
      <p:sp>
        <p:nvSpPr>
          <p:cNvPr id="30" name="Text 28"/>
          <p:cNvSpPr/>
          <p:nvPr/>
        </p:nvSpPr>
        <p:spPr>
          <a:xfrm>
            <a:off x="10104120" y="2651760"/>
            <a:ext cx="141732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930" dirty="0">
                <a:solidFill>
                  <a:srgbClr val="5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Downtrend with weak momentum and a deep decline</a:t>
            </a:r>
            <a:endParaRPr lang="en-US" sz="930" dirty="0"/>
          </a:p>
        </p:txBody>
      </p:sp>
      <p:sp>
        <p:nvSpPr>
          <p:cNvPr id="31" name="Shape 29"/>
          <p:cNvSpPr/>
          <p:nvPr/>
        </p:nvSpPr>
        <p:spPr>
          <a:xfrm>
            <a:off x="4206240" y="3749040"/>
            <a:ext cx="7452360" cy="2194560"/>
          </a:xfrm>
          <a:prstGeom prst="roundRect">
            <a:avLst>
              <a:gd name="adj" fmla="val 3333"/>
            </a:avLst>
          </a:prstGeom>
          <a:solidFill>
            <a:srgbClr val="F1F5F6"/>
          </a:solidFill>
          <a:ln/>
        </p:spPr>
      </p:sp>
      <p:sp>
        <p:nvSpPr>
          <p:cNvPr id="32" name="Text 30"/>
          <p:cNvSpPr/>
          <p:nvPr/>
        </p:nvSpPr>
        <p:spPr>
          <a:xfrm>
            <a:off x="4480560" y="3749040"/>
            <a:ext cx="6903720" cy="2194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5000"/>
              </a:lnSpc>
              <a:buNone/>
            </a:pPr>
            <a:r>
              <a:rPr lang="en-US" sz="1300" dirty="0">
                <a:solidFill>
                  <a:srgbClr val="1620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Trend comes from the 50-day vs 200-day moving averages, momentum from a 14-day RSI, and severity from drawdown off the peak — three transparent signals feeding one label. When BTC's RSI recovers off a deep low even in a downtrend, the rule reads it as basing, not capitulation.</a:t>
            </a:r>
            <a:endParaRPr lang="en-US" sz="1300" dirty="0"/>
          </a:p>
        </p:txBody>
      </p:sp>
      <p:sp>
        <p:nvSpPr>
          <p:cNvPr id="33" name="Text 31"/>
          <p:cNvSpPr/>
          <p:nvPr/>
        </p:nvSpPr>
        <p:spPr>
          <a:xfrm>
            <a:off x="457200" y="6473952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Cryptocurrency Market Analysis System</a:t>
            </a:r>
            <a:endParaRPr lang="en-US" sz="900" dirty="0"/>
          </a:p>
        </p:txBody>
      </p:sp>
      <p:sp>
        <p:nvSpPr>
          <p:cNvPr id="34" name="Text 32"/>
          <p:cNvSpPr/>
          <p:nvPr/>
        </p:nvSpPr>
        <p:spPr>
          <a:xfrm>
            <a:off x="11277295" y="6473952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164592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spc="200" kern="0" dirty="0">
                <a:solidFill>
                  <a:srgbClr val="00BC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FEATURE 03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411480"/>
            <a:ext cx="11094415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620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Correlation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548640" y="1051560"/>
            <a:ext cx="10515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5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Does crypto move with traditional markets, or on its own? The answer changes with the regime — so we measure it three ways.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548640" y="1691640"/>
            <a:ext cx="10607040" cy="932688"/>
          </a:xfrm>
          <a:prstGeom prst="roundRect">
            <a:avLst>
              <a:gd name="adj" fmla="val 7843"/>
            </a:avLst>
          </a:prstGeom>
          <a:solidFill>
            <a:srgbClr val="F1F5F6"/>
          </a:solidFill>
          <a:ln/>
        </p:spPr>
      </p:sp>
      <p:sp>
        <p:nvSpPr>
          <p:cNvPr id="6" name="Shape 4"/>
          <p:cNvSpPr/>
          <p:nvPr/>
        </p:nvSpPr>
        <p:spPr>
          <a:xfrm>
            <a:off x="777240" y="1865376"/>
            <a:ext cx="585216" cy="585216"/>
          </a:xfrm>
          <a:prstGeom prst="ellipse">
            <a:avLst/>
          </a:prstGeom>
          <a:solidFill>
            <a:srgbClr val="00BCD4"/>
          </a:solidFill>
          <a:ln/>
        </p:spPr>
      </p:sp>
      <p:sp>
        <p:nvSpPr>
          <p:cNvPr id="7" name="Text 5"/>
          <p:cNvSpPr/>
          <p:nvPr/>
        </p:nvSpPr>
        <p:spPr>
          <a:xfrm>
            <a:off x="777240" y="1865376"/>
            <a:ext cx="585216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418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⇄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1600200" y="1783080"/>
            <a:ext cx="274320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20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Static Correlation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4480560" y="1783080"/>
            <a:ext cx="649224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5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Pearson correlation of daily returns across all 6 coins and 5 macro assets, side by side in one matrix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548640" y="2788920"/>
            <a:ext cx="10607040" cy="932688"/>
          </a:xfrm>
          <a:prstGeom prst="roundRect">
            <a:avLst>
              <a:gd name="adj" fmla="val 7843"/>
            </a:avLst>
          </a:prstGeom>
          <a:solidFill>
            <a:srgbClr val="F1F5F6"/>
          </a:solidFill>
          <a:ln/>
        </p:spPr>
      </p:sp>
      <p:sp>
        <p:nvSpPr>
          <p:cNvPr id="11" name="Shape 9"/>
          <p:cNvSpPr/>
          <p:nvPr/>
        </p:nvSpPr>
        <p:spPr>
          <a:xfrm>
            <a:off x="777240" y="2962656"/>
            <a:ext cx="585216" cy="585216"/>
          </a:xfrm>
          <a:prstGeom prst="ellipse">
            <a:avLst/>
          </a:prstGeom>
          <a:solidFill>
            <a:srgbClr val="00BCD4"/>
          </a:solidFill>
          <a:ln/>
        </p:spPr>
      </p:sp>
      <p:sp>
        <p:nvSpPr>
          <p:cNvPr id="12" name="Text 10"/>
          <p:cNvSpPr/>
          <p:nvPr/>
        </p:nvSpPr>
        <p:spPr>
          <a:xfrm>
            <a:off x="777240" y="2962656"/>
            <a:ext cx="585216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418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⇄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1600200" y="2880360"/>
            <a:ext cx="274320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20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Rolling Correlation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4480560" y="2880360"/>
            <a:ext cx="649224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5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Recomputed over a moving window — the crypto/equity relationship is regime-dependent and shifts over time, not fixed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548640" y="3886200"/>
            <a:ext cx="10607040" cy="932688"/>
          </a:xfrm>
          <a:prstGeom prst="roundRect">
            <a:avLst>
              <a:gd name="adj" fmla="val 7843"/>
            </a:avLst>
          </a:prstGeom>
          <a:solidFill>
            <a:srgbClr val="F1F5F6"/>
          </a:solidFill>
          <a:ln/>
        </p:spPr>
      </p:sp>
      <p:sp>
        <p:nvSpPr>
          <p:cNvPr id="16" name="Shape 14"/>
          <p:cNvSpPr/>
          <p:nvPr/>
        </p:nvSpPr>
        <p:spPr>
          <a:xfrm>
            <a:off x="777240" y="4059936"/>
            <a:ext cx="585216" cy="585216"/>
          </a:xfrm>
          <a:prstGeom prst="ellipse">
            <a:avLst/>
          </a:prstGeom>
          <a:solidFill>
            <a:srgbClr val="00BCD4"/>
          </a:solidFill>
          <a:ln/>
        </p:spPr>
      </p:sp>
      <p:sp>
        <p:nvSpPr>
          <p:cNvPr id="17" name="Text 15"/>
          <p:cNvSpPr/>
          <p:nvPr/>
        </p:nvSpPr>
        <p:spPr>
          <a:xfrm>
            <a:off x="777240" y="4059936"/>
            <a:ext cx="585216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418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⇄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1600200" y="3977640"/>
            <a:ext cx="274320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20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Beta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4480560" y="3977640"/>
            <a:ext cx="649224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5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sharply an asset's returns swing relative to a benchmark like the S&amp;P 500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548640" y="4983480"/>
            <a:ext cx="10607040" cy="932688"/>
          </a:xfrm>
          <a:prstGeom prst="roundRect">
            <a:avLst>
              <a:gd name="adj" fmla="val 7843"/>
            </a:avLst>
          </a:prstGeom>
          <a:solidFill>
            <a:srgbClr val="F1F5F6"/>
          </a:solidFill>
          <a:ln/>
        </p:spPr>
      </p:sp>
      <p:sp>
        <p:nvSpPr>
          <p:cNvPr id="21" name="Shape 19"/>
          <p:cNvSpPr/>
          <p:nvPr/>
        </p:nvSpPr>
        <p:spPr>
          <a:xfrm>
            <a:off x="777240" y="5157216"/>
            <a:ext cx="585216" cy="585216"/>
          </a:xfrm>
          <a:prstGeom prst="ellipse">
            <a:avLst/>
          </a:prstGeom>
          <a:solidFill>
            <a:srgbClr val="00BCD4"/>
          </a:solidFill>
          <a:ln/>
        </p:spPr>
      </p:sp>
      <p:sp>
        <p:nvSpPr>
          <p:cNvPr id="22" name="Text 20"/>
          <p:cNvSpPr/>
          <p:nvPr/>
        </p:nvSpPr>
        <p:spPr>
          <a:xfrm>
            <a:off x="777240" y="5157216"/>
            <a:ext cx="585216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418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⇄</a:t>
            </a:r>
            <a:endParaRPr lang="en-US" sz="1600" dirty="0"/>
          </a:p>
        </p:txBody>
      </p:sp>
      <p:sp>
        <p:nvSpPr>
          <p:cNvPr id="23" name="Text 21"/>
          <p:cNvSpPr/>
          <p:nvPr/>
        </p:nvSpPr>
        <p:spPr>
          <a:xfrm>
            <a:off x="1600200" y="5074920"/>
            <a:ext cx="274320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20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Regime Correlation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4480560" y="5074920"/>
            <a:ext cx="649224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5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Correlation measured separately in calm markets vs. the benchmark's worst days — does crypto de-correlate exactly when it matters, or converge?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457200" y="6473952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Cryptocurrency Market Analysis System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11277295" y="6473952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418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164592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spc="200" kern="0" dirty="0">
                <a:solidFill>
                  <a:srgbClr val="00BC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FEATURE 04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411480"/>
            <a:ext cx="11094415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F5F9F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Price Forecast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548640" y="1051560"/>
            <a:ext cx="10515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9FB0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ARIMA model on the log-price series — validated honestly, and never dressed up as a price target.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548640" y="1828800"/>
            <a:ext cx="14859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50" kern="0" dirty="0">
                <a:solidFill>
                  <a:srgbClr val="9FB0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ARIMA ORDER</a:t>
            </a:r>
            <a:endParaRPr lang="en-US" sz="950" dirty="0"/>
          </a:p>
        </p:txBody>
      </p:sp>
      <p:sp>
        <p:nvSpPr>
          <p:cNvPr id="6" name="Text 4"/>
          <p:cNvSpPr/>
          <p:nvPr/>
        </p:nvSpPr>
        <p:spPr>
          <a:xfrm>
            <a:off x="548640" y="2103120"/>
            <a:ext cx="14859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5F9F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(0, 1, 0)</a:t>
            </a:r>
            <a:endParaRPr lang="en-US" sz="2400" dirty="0"/>
          </a:p>
        </p:txBody>
      </p:sp>
      <p:sp>
        <p:nvSpPr>
          <p:cNvPr id="7" name="Text 5"/>
          <p:cNvSpPr/>
          <p:nvPr/>
        </p:nvSpPr>
        <p:spPr>
          <a:xfrm>
            <a:off x="2217420" y="1828800"/>
            <a:ext cx="14859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50" kern="0" dirty="0">
                <a:solidFill>
                  <a:srgbClr val="9FB0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30-DAY RMSE</a:t>
            </a:r>
            <a:endParaRPr lang="en-US" sz="950" dirty="0"/>
          </a:p>
        </p:txBody>
      </p:sp>
      <p:sp>
        <p:nvSpPr>
          <p:cNvPr id="8" name="Text 6"/>
          <p:cNvSpPr/>
          <p:nvPr/>
        </p:nvSpPr>
        <p:spPr>
          <a:xfrm>
            <a:off x="2217420" y="2103120"/>
            <a:ext cx="14859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5F9F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$899</a:t>
            </a:r>
            <a:endParaRPr lang="en-US" sz="2400" dirty="0"/>
          </a:p>
        </p:txBody>
      </p:sp>
      <p:sp>
        <p:nvSpPr>
          <p:cNvPr id="9" name="Text 7"/>
          <p:cNvSpPr/>
          <p:nvPr/>
        </p:nvSpPr>
        <p:spPr>
          <a:xfrm>
            <a:off x="3886200" y="1828800"/>
            <a:ext cx="14859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50" kern="0" dirty="0">
                <a:solidFill>
                  <a:srgbClr val="9FB0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30-DAY MAPE</a:t>
            </a:r>
            <a:endParaRPr lang="en-US" sz="950" dirty="0"/>
          </a:p>
        </p:txBody>
      </p:sp>
      <p:sp>
        <p:nvSpPr>
          <p:cNvPr id="10" name="Text 8"/>
          <p:cNvSpPr/>
          <p:nvPr/>
        </p:nvSpPr>
        <p:spPr>
          <a:xfrm>
            <a:off x="3886200" y="2103120"/>
            <a:ext cx="14859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5F9F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1.10%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5554980" y="1828800"/>
            <a:ext cx="14859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50" kern="0" dirty="0">
                <a:solidFill>
                  <a:srgbClr val="9FB0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SKILL VS. NAIVE</a:t>
            </a:r>
            <a:endParaRPr lang="en-US" sz="950" dirty="0"/>
          </a:p>
        </p:txBody>
      </p:sp>
      <p:sp>
        <p:nvSpPr>
          <p:cNvPr id="12" name="Text 10"/>
          <p:cNvSpPr/>
          <p:nvPr/>
        </p:nvSpPr>
        <p:spPr>
          <a:xfrm>
            <a:off x="5554980" y="2103120"/>
            <a:ext cx="14859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5F9F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+0.0%</a:t>
            </a:r>
            <a:endParaRPr lang="en-US" sz="2400" dirty="0"/>
          </a:p>
        </p:txBody>
      </p:sp>
      <p:sp>
        <p:nvSpPr>
          <p:cNvPr id="13" name="Shape 11"/>
          <p:cNvSpPr/>
          <p:nvPr/>
        </p:nvSpPr>
        <p:spPr>
          <a:xfrm>
            <a:off x="548640" y="2743200"/>
            <a:ext cx="6675120" cy="1417320"/>
          </a:xfrm>
          <a:prstGeom prst="roundRect">
            <a:avLst>
              <a:gd name="adj" fmla="val 5161"/>
            </a:avLst>
          </a:prstGeom>
          <a:solidFill>
            <a:srgbClr val="1D2329"/>
          </a:solidFill>
          <a:ln/>
        </p:spPr>
      </p:sp>
      <p:sp>
        <p:nvSpPr>
          <p:cNvPr id="14" name="Text 12"/>
          <p:cNvSpPr/>
          <p:nvPr/>
        </p:nvSpPr>
        <p:spPr>
          <a:xfrm>
            <a:off x="822960" y="2743200"/>
            <a:ext cx="6126480" cy="1417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350" i="1" dirty="0">
                <a:solidFill>
                  <a:srgbClr val="F5F9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“ARIMA(0, 1, 0) did not beat the random-walk baseline this run. Read the interval as a range of outcomes, not a price target.”</a:t>
            </a:r>
            <a:endParaRPr lang="en-US" sz="1350" dirty="0"/>
          </a:p>
        </p:txBody>
      </p:sp>
      <p:sp>
        <p:nvSpPr>
          <p:cNvPr id="15" name="Text 13"/>
          <p:cNvSpPr/>
          <p:nvPr/>
        </p:nvSpPr>
        <p:spPr>
          <a:xfrm>
            <a:off x="548640" y="4343400"/>
            <a:ext cx="667512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9FB0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That's not a bug — it's the honest result for a near-random-walk asset, and the whole point of reporting skill against a naive baseline instead of a bare RMSE.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7543800" y="1828800"/>
            <a:ext cx="4114800" cy="4206240"/>
          </a:xfrm>
          <a:prstGeom prst="roundRect">
            <a:avLst>
              <a:gd name="adj" fmla="val 1778"/>
            </a:avLst>
          </a:prstGeom>
          <a:solidFill>
            <a:srgbClr val="1D2329"/>
          </a:solidFill>
          <a:ln/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7772400" y="201168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50" kern="0" dirty="0">
                <a:solidFill>
                  <a:srgbClr val="9FB0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BTC 30-DAY ARIMA FORECAST</a:t>
            </a:r>
            <a:endParaRPr lang="en-US" sz="900" dirty="0"/>
          </a:p>
        </p:txBody>
      </p:sp>
      <p:graphicFrame>
        <p:nvGraphicFramePr>
          <p:cNvPr id="18" name="Chart 0" descr=""/>
          <p:cNvGraphicFramePr/>
          <p:nvPr/>
        </p:nvGraphicFramePr>
        <p:xfrm>
          <a:off x="7680960" y="2377440"/>
          <a:ext cx="3931920" cy="33832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9" name="Text 16"/>
          <p:cNvSpPr/>
          <p:nvPr/>
        </p:nvSpPr>
        <p:spPr>
          <a:xfrm>
            <a:off x="457200" y="6473952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9FB0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Cryptocurrency Market Analysis System</a:t>
            </a:r>
            <a:endParaRPr lang="en-US" sz="900" dirty="0"/>
          </a:p>
        </p:txBody>
      </p:sp>
      <p:sp>
        <p:nvSpPr>
          <p:cNvPr id="20" name="Text 17"/>
          <p:cNvSpPr/>
          <p:nvPr/>
        </p:nvSpPr>
        <p:spPr>
          <a:xfrm>
            <a:off x="11277295" y="6473952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FB0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164592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spc="200" kern="0" dirty="0">
                <a:solidFill>
                  <a:srgbClr val="00BC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UNDER THE HOOD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411480"/>
            <a:ext cx="11094415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620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Six Coins, Five Macro Assets, Four Live Feeds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548640" y="150876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0097A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DIGITAL ASSETS TRACKED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548640" y="1828800"/>
            <a:ext cx="914400" cy="548640"/>
          </a:xfrm>
          <a:prstGeom prst="roundRect">
            <a:avLst>
              <a:gd name="adj" fmla="val 13333"/>
            </a:avLst>
          </a:prstGeom>
          <a:solidFill>
            <a:srgbClr val="14181C"/>
          </a:solidFill>
          <a:ln/>
        </p:spPr>
      </p:sp>
      <p:sp>
        <p:nvSpPr>
          <p:cNvPr id="6" name="Text 4"/>
          <p:cNvSpPr/>
          <p:nvPr/>
        </p:nvSpPr>
        <p:spPr>
          <a:xfrm>
            <a:off x="548640" y="1828800"/>
            <a:ext cx="914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0BC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BTC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1572768" y="1828800"/>
            <a:ext cx="914400" cy="548640"/>
          </a:xfrm>
          <a:prstGeom prst="roundRect">
            <a:avLst>
              <a:gd name="adj" fmla="val 13333"/>
            </a:avLst>
          </a:prstGeom>
          <a:solidFill>
            <a:srgbClr val="14181C"/>
          </a:solidFill>
          <a:ln/>
        </p:spPr>
      </p:sp>
      <p:sp>
        <p:nvSpPr>
          <p:cNvPr id="8" name="Text 6"/>
          <p:cNvSpPr/>
          <p:nvPr/>
        </p:nvSpPr>
        <p:spPr>
          <a:xfrm>
            <a:off x="1572768" y="1828800"/>
            <a:ext cx="914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0BC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ETH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2596896" y="1828800"/>
            <a:ext cx="914400" cy="548640"/>
          </a:xfrm>
          <a:prstGeom prst="roundRect">
            <a:avLst>
              <a:gd name="adj" fmla="val 13333"/>
            </a:avLst>
          </a:prstGeom>
          <a:solidFill>
            <a:srgbClr val="14181C"/>
          </a:solidFill>
          <a:ln/>
        </p:spPr>
      </p:sp>
      <p:sp>
        <p:nvSpPr>
          <p:cNvPr id="10" name="Text 8"/>
          <p:cNvSpPr/>
          <p:nvPr/>
        </p:nvSpPr>
        <p:spPr>
          <a:xfrm>
            <a:off x="2596896" y="1828800"/>
            <a:ext cx="914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0BC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21024" y="1828800"/>
            <a:ext cx="914400" cy="548640"/>
          </a:xfrm>
          <a:prstGeom prst="roundRect">
            <a:avLst>
              <a:gd name="adj" fmla="val 13333"/>
            </a:avLst>
          </a:prstGeom>
          <a:solidFill>
            <a:srgbClr val="14181C"/>
          </a:solidFill>
          <a:ln/>
        </p:spPr>
      </p:sp>
      <p:sp>
        <p:nvSpPr>
          <p:cNvPr id="12" name="Text 10"/>
          <p:cNvSpPr/>
          <p:nvPr/>
        </p:nvSpPr>
        <p:spPr>
          <a:xfrm>
            <a:off x="3621024" y="1828800"/>
            <a:ext cx="914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0BC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BNB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4645152" y="1828800"/>
            <a:ext cx="914400" cy="548640"/>
          </a:xfrm>
          <a:prstGeom prst="roundRect">
            <a:avLst>
              <a:gd name="adj" fmla="val 13333"/>
            </a:avLst>
          </a:prstGeom>
          <a:solidFill>
            <a:srgbClr val="14181C"/>
          </a:solidFill>
          <a:ln/>
        </p:spPr>
      </p:sp>
      <p:sp>
        <p:nvSpPr>
          <p:cNvPr id="14" name="Text 12"/>
          <p:cNvSpPr/>
          <p:nvPr/>
        </p:nvSpPr>
        <p:spPr>
          <a:xfrm>
            <a:off x="4645152" y="1828800"/>
            <a:ext cx="914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0BC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XRP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5669280" y="1828800"/>
            <a:ext cx="914400" cy="548640"/>
          </a:xfrm>
          <a:prstGeom prst="roundRect">
            <a:avLst>
              <a:gd name="adj" fmla="val 13333"/>
            </a:avLst>
          </a:prstGeom>
          <a:solidFill>
            <a:srgbClr val="14181C"/>
          </a:solidFill>
          <a:ln/>
        </p:spPr>
      </p:sp>
      <p:sp>
        <p:nvSpPr>
          <p:cNvPr id="16" name="Text 14"/>
          <p:cNvSpPr/>
          <p:nvPr/>
        </p:nvSpPr>
        <p:spPr>
          <a:xfrm>
            <a:off x="5669280" y="1828800"/>
            <a:ext cx="914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0BC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ADA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548640" y="269748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0097A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TRADITIONAL / MACRO ASSETS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548640" y="3017520"/>
            <a:ext cx="50292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1620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S&amp;P 500</a:t>
            </a:r>
            <a:endParaRPr lang="en-US" sz="1350" dirty="0"/>
          </a:p>
        </p:txBody>
      </p:sp>
      <p:sp>
        <p:nvSpPr>
          <p:cNvPr id="19" name="Text 17"/>
          <p:cNvSpPr/>
          <p:nvPr/>
        </p:nvSpPr>
        <p:spPr>
          <a:xfrm>
            <a:off x="548640" y="3383280"/>
            <a:ext cx="50292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1620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Gold</a:t>
            </a:r>
            <a:endParaRPr lang="en-US" sz="1350" dirty="0"/>
          </a:p>
        </p:txBody>
      </p:sp>
      <p:sp>
        <p:nvSpPr>
          <p:cNvPr id="20" name="Text 18"/>
          <p:cNvSpPr/>
          <p:nvPr/>
        </p:nvSpPr>
        <p:spPr>
          <a:xfrm>
            <a:off x="548640" y="3749040"/>
            <a:ext cx="50292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1620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US Dollar Index</a:t>
            </a:r>
            <a:endParaRPr lang="en-US" sz="1350" dirty="0"/>
          </a:p>
        </p:txBody>
      </p:sp>
      <p:sp>
        <p:nvSpPr>
          <p:cNvPr id="21" name="Text 19"/>
          <p:cNvSpPr/>
          <p:nvPr/>
        </p:nvSpPr>
        <p:spPr>
          <a:xfrm>
            <a:off x="548640" y="4114800"/>
            <a:ext cx="50292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1620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US 10-Yr Yield</a:t>
            </a:r>
            <a:endParaRPr lang="en-US" sz="1350" dirty="0"/>
          </a:p>
        </p:txBody>
      </p:sp>
      <p:sp>
        <p:nvSpPr>
          <p:cNvPr id="22" name="Text 20"/>
          <p:cNvSpPr/>
          <p:nvPr/>
        </p:nvSpPr>
        <p:spPr>
          <a:xfrm>
            <a:off x="548640" y="4480560"/>
            <a:ext cx="50292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1620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Crude Oil</a:t>
            </a:r>
            <a:endParaRPr lang="en-US" sz="1350" dirty="0"/>
          </a:p>
        </p:txBody>
      </p:sp>
      <p:sp>
        <p:nvSpPr>
          <p:cNvPr id="23" name="Shape 21"/>
          <p:cNvSpPr/>
          <p:nvPr/>
        </p:nvSpPr>
        <p:spPr>
          <a:xfrm>
            <a:off x="548640" y="5074920"/>
            <a:ext cx="5486400" cy="914400"/>
          </a:xfrm>
          <a:prstGeom prst="roundRect">
            <a:avLst>
              <a:gd name="adj" fmla="val 8000"/>
            </a:avLst>
          </a:prstGeom>
          <a:solidFill>
            <a:srgbClr val="F1F5F6"/>
          </a:solidFill>
          <a:ln/>
          <a:effectLst>
            <a:outerShdw sx="100000" sy="100000" kx="0" ky="0" algn="bl" rotWithShape="0" blurRad="101600" dist="38100" dir="54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777240" y="5074920"/>
            <a:ext cx="50292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i="1" dirty="0">
                <a:solidFill>
                  <a:srgbClr val="5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feed is checked live. If one is unreachable, the system falls back to a deterministic synthetic dataset — the dashboard never goes down.</a:t>
            </a:r>
            <a:endParaRPr lang="en-US" sz="1150" dirty="0"/>
          </a:p>
        </p:txBody>
      </p:sp>
      <p:sp>
        <p:nvSpPr>
          <p:cNvPr id="25" name="Text 23"/>
          <p:cNvSpPr/>
          <p:nvPr/>
        </p:nvSpPr>
        <p:spPr>
          <a:xfrm>
            <a:off x="6720840" y="1508760"/>
            <a:ext cx="4937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0097A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PROVIDERS (ALL FREE TIER)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6720840" y="1874520"/>
            <a:ext cx="4937760" cy="841248"/>
          </a:xfrm>
          <a:prstGeom prst="roundRect">
            <a:avLst>
              <a:gd name="adj" fmla="val 8696"/>
            </a:avLst>
          </a:prstGeom>
          <a:solidFill>
            <a:srgbClr val="F1F5F6"/>
          </a:solidFill>
          <a:ln/>
        </p:spPr>
      </p:sp>
      <p:sp>
        <p:nvSpPr>
          <p:cNvPr id="27" name="Shape 25"/>
          <p:cNvSpPr/>
          <p:nvPr/>
        </p:nvSpPr>
        <p:spPr>
          <a:xfrm>
            <a:off x="6720840" y="1874520"/>
            <a:ext cx="73152" cy="841248"/>
          </a:xfrm>
          <a:prstGeom prst="roundRect">
            <a:avLst/>
          </a:prstGeom>
          <a:solidFill>
            <a:srgbClr val="00BCD4"/>
          </a:solidFill>
          <a:ln/>
        </p:spPr>
      </p:sp>
      <p:sp>
        <p:nvSpPr>
          <p:cNvPr id="28" name="Text 26"/>
          <p:cNvSpPr/>
          <p:nvPr/>
        </p:nvSpPr>
        <p:spPr>
          <a:xfrm>
            <a:off x="6995160" y="1965960"/>
            <a:ext cx="4572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20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CoinGecko</a:t>
            </a:r>
            <a:endParaRPr lang="en-US" sz="1400" dirty="0"/>
          </a:p>
        </p:txBody>
      </p:sp>
      <p:sp>
        <p:nvSpPr>
          <p:cNvPr id="29" name="Text 27"/>
          <p:cNvSpPr/>
          <p:nvPr/>
        </p:nvSpPr>
        <p:spPr>
          <a:xfrm>
            <a:off x="6995160" y="2313432"/>
            <a:ext cx="4572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Crypto price, volume, market cap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6720840" y="2862072"/>
            <a:ext cx="4937760" cy="841248"/>
          </a:xfrm>
          <a:prstGeom prst="roundRect">
            <a:avLst>
              <a:gd name="adj" fmla="val 8696"/>
            </a:avLst>
          </a:prstGeom>
          <a:solidFill>
            <a:srgbClr val="F1F5F6"/>
          </a:solidFill>
          <a:ln/>
        </p:spPr>
      </p:sp>
      <p:sp>
        <p:nvSpPr>
          <p:cNvPr id="31" name="Shape 29"/>
          <p:cNvSpPr/>
          <p:nvPr/>
        </p:nvSpPr>
        <p:spPr>
          <a:xfrm>
            <a:off x="6720840" y="2862072"/>
            <a:ext cx="73152" cy="841248"/>
          </a:xfrm>
          <a:prstGeom prst="roundRect">
            <a:avLst/>
          </a:prstGeom>
          <a:solidFill>
            <a:srgbClr val="00BCD4"/>
          </a:solidFill>
          <a:ln/>
        </p:spPr>
      </p:sp>
      <p:sp>
        <p:nvSpPr>
          <p:cNvPr id="32" name="Text 30"/>
          <p:cNvSpPr/>
          <p:nvPr/>
        </p:nvSpPr>
        <p:spPr>
          <a:xfrm>
            <a:off x="6995160" y="2953512"/>
            <a:ext cx="4572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20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Yahoo Finance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995160" y="3300984"/>
            <a:ext cx="4572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S&amp;P 500, gold, dollar index, yield, oil</a:t>
            </a:r>
            <a:endParaRPr lang="en-US" sz="1100" dirty="0"/>
          </a:p>
        </p:txBody>
      </p:sp>
      <p:sp>
        <p:nvSpPr>
          <p:cNvPr id="34" name="Shape 32"/>
          <p:cNvSpPr/>
          <p:nvPr/>
        </p:nvSpPr>
        <p:spPr>
          <a:xfrm>
            <a:off x="6720840" y="3849624"/>
            <a:ext cx="4937760" cy="841248"/>
          </a:xfrm>
          <a:prstGeom prst="roundRect">
            <a:avLst>
              <a:gd name="adj" fmla="val 8696"/>
            </a:avLst>
          </a:prstGeom>
          <a:solidFill>
            <a:srgbClr val="F1F5F6"/>
          </a:solidFill>
          <a:ln/>
        </p:spPr>
      </p:sp>
      <p:sp>
        <p:nvSpPr>
          <p:cNvPr id="35" name="Shape 33"/>
          <p:cNvSpPr/>
          <p:nvPr/>
        </p:nvSpPr>
        <p:spPr>
          <a:xfrm>
            <a:off x="6720840" y="3849624"/>
            <a:ext cx="73152" cy="841248"/>
          </a:xfrm>
          <a:prstGeom prst="roundRect">
            <a:avLst/>
          </a:prstGeom>
          <a:solidFill>
            <a:srgbClr val="00BCD4"/>
          </a:solidFill>
          <a:ln/>
        </p:spPr>
      </p:sp>
      <p:sp>
        <p:nvSpPr>
          <p:cNvPr id="36" name="Text 34"/>
          <p:cNvSpPr/>
          <p:nvPr/>
        </p:nvSpPr>
        <p:spPr>
          <a:xfrm>
            <a:off x="6995160" y="3941064"/>
            <a:ext cx="4572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20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alternative.me</a:t>
            </a:r>
            <a:endParaRPr lang="en-US" sz="1400" dirty="0"/>
          </a:p>
        </p:txBody>
      </p:sp>
      <p:sp>
        <p:nvSpPr>
          <p:cNvPr id="37" name="Text 35"/>
          <p:cNvSpPr/>
          <p:nvPr/>
        </p:nvSpPr>
        <p:spPr>
          <a:xfrm>
            <a:off x="6995160" y="4288536"/>
            <a:ext cx="4572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Fear &amp; Greed sentiment index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6720840" y="4837176"/>
            <a:ext cx="4937760" cy="841248"/>
          </a:xfrm>
          <a:prstGeom prst="roundRect">
            <a:avLst>
              <a:gd name="adj" fmla="val 8696"/>
            </a:avLst>
          </a:prstGeom>
          <a:solidFill>
            <a:srgbClr val="F1F5F6"/>
          </a:solidFill>
          <a:ln/>
        </p:spPr>
      </p:sp>
      <p:sp>
        <p:nvSpPr>
          <p:cNvPr id="39" name="Shape 37"/>
          <p:cNvSpPr/>
          <p:nvPr/>
        </p:nvSpPr>
        <p:spPr>
          <a:xfrm>
            <a:off x="6720840" y="4837176"/>
            <a:ext cx="73152" cy="841248"/>
          </a:xfrm>
          <a:prstGeom prst="roundRect">
            <a:avLst/>
          </a:prstGeom>
          <a:solidFill>
            <a:srgbClr val="00BCD4"/>
          </a:solidFill>
          <a:ln/>
        </p:spPr>
      </p:sp>
      <p:sp>
        <p:nvSpPr>
          <p:cNvPr id="40" name="Text 38"/>
          <p:cNvSpPr/>
          <p:nvPr/>
        </p:nvSpPr>
        <p:spPr>
          <a:xfrm>
            <a:off x="6995160" y="4928616"/>
            <a:ext cx="4572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20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Blockchain.info</a:t>
            </a:r>
            <a:endParaRPr lang="en-US" sz="1400" dirty="0"/>
          </a:p>
        </p:txBody>
      </p:sp>
      <p:sp>
        <p:nvSpPr>
          <p:cNvPr id="41" name="Text 39"/>
          <p:cNvSpPr/>
          <p:nvPr/>
        </p:nvSpPr>
        <p:spPr>
          <a:xfrm>
            <a:off x="6995160" y="5276088"/>
            <a:ext cx="4572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Bitcoin on-chain transactions &amp; addresses</a:t>
            </a:r>
            <a:endParaRPr lang="en-US" sz="1100" dirty="0"/>
          </a:p>
        </p:txBody>
      </p:sp>
      <p:sp>
        <p:nvSpPr>
          <p:cNvPr id="42" name="Text 40"/>
          <p:cNvSpPr/>
          <p:nvPr/>
        </p:nvSpPr>
        <p:spPr>
          <a:xfrm>
            <a:off x="457200" y="6473952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Cryptocurrency Market Analysis System</a:t>
            </a:r>
            <a:endParaRPr lang="en-US" sz="900" dirty="0"/>
          </a:p>
        </p:txBody>
      </p:sp>
      <p:sp>
        <p:nvSpPr>
          <p:cNvPr id="43" name="Text 41"/>
          <p:cNvSpPr/>
          <p:nvPr/>
        </p:nvSpPr>
        <p:spPr>
          <a:xfrm>
            <a:off x="11277295" y="6473952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164592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spc="200" kern="0" dirty="0">
                <a:solidFill>
                  <a:srgbClr val="00BC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UNDER THE HOOD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411480"/>
            <a:ext cx="11094415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620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From Raw Feeds to Insight in One Pipeline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548640" y="1051560"/>
            <a:ext cx="10515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5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feed lands in a shared cache, gets assembled into one tidy bundle, then flows into four independent analyses feeding the same dashboard.</a:t>
            </a:r>
            <a:endParaRPr lang="en-US" sz="1300" dirty="0"/>
          </a:p>
        </p:txBody>
      </p:sp>
      <p:pic>
        <p:nvPicPr>
          <p:cNvPr id="5" name="Image 0" descr="C:\Users\garim\AppData\Local\Temp\pptxwork\assets\pipelin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966839" y="1600200"/>
            <a:ext cx="8258016" cy="470916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457200" y="6473952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Cryptocurrency Market Analysis System</a:t>
            </a:r>
            <a:endParaRPr lang="en-US" sz="900" dirty="0"/>
          </a:p>
        </p:txBody>
      </p:sp>
      <p:sp>
        <p:nvSpPr>
          <p:cNvPr id="7" name="Text 4"/>
          <p:cNvSpPr/>
          <p:nvPr/>
        </p:nvSpPr>
        <p:spPr>
          <a:xfrm>
            <a:off x="11277295" y="6473952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164592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spc="200" kern="0" dirty="0">
                <a:solidFill>
                  <a:srgbClr val="00BC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UNDER THE HOOD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411480"/>
            <a:ext cx="11094415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620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Open-Source Python, End to End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548640" y="105156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i="1" dirty="0">
                <a:solidFill>
                  <a:srgbClr val="5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proprietary dependencies — portable to any standard Python environment, including Streamlit Community Cloud.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548640" y="1828800"/>
            <a:ext cx="3393338" cy="1737360"/>
          </a:xfrm>
          <a:prstGeom prst="roundRect">
            <a:avLst>
              <a:gd name="adj" fmla="val 4211"/>
            </a:avLst>
          </a:prstGeom>
          <a:solidFill>
            <a:srgbClr val="F1F5F6"/>
          </a:solidFill>
          <a:ln/>
          <a:effectLst>
            <a:outerShdw sx="100000" sy="100000" kx="0" ky="0" algn="bl" rotWithShape="0" blurRad="101600" dist="38100" dir="5400000">
              <a:srgbClr val="000000">
                <a:alpha val="12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868680" y="2148840"/>
            <a:ext cx="822960" cy="822960"/>
          </a:xfrm>
          <a:prstGeom prst="ellipse">
            <a:avLst/>
          </a:prstGeom>
          <a:solidFill>
            <a:srgbClr val="14181C"/>
          </a:solidFill>
          <a:ln/>
        </p:spPr>
      </p:sp>
      <p:sp>
        <p:nvSpPr>
          <p:cNvPr id="7" name="Text 5"/>
          <p:cNvSpPr/>
          <p:nvPr/>
        </p:nvSpPr>
        <p:spPr>
          <a:xfrm>
            <a:off x="868680" y="2148840"/>
            <a:ext cx="8229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0BC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874520" y="2194560"/>
            <a:ext cx="183885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620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Language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874520" y="2606040"/>
            <a:ext cx="1838858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5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Python 3.10+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4399178" y="1828800"/>
            <a:ext cx="3393338" cy="1737360"/>
          </a:xfrm>
          <a:prstGeom prst="roundRect">
            <a:avLst>
              <a:gd name="adj" fmla="val 4211"/>
            </a:avLst>
          </a:prstGeom>
          <a:solidFill>
            <a:srgbClr val="F1F5F6"/>
          </a:solidFill>
          <a:ln/>
          <a:effectLst>
            <a:outerShdw sx="100000" sy="100000" kx="0" ky="0" algn="bl" rotWithShape="0" blurRad="101600" dist="38100" dir="5400000">
              <a:srgbClr val="000000">
                <a:alpha val="12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4719218" y="2148840"/>
            <a:ext cx="822960" cy="822960"/>
          </a:xfrm>
          <a:prstGeom prst="ellipse">
            <a:avLst/>
          </a:prstGeom>
          <a:solidFill>
            <a:srgbClr val="14181C"/>
          </a:solidFill>
          <a:ln/>
        </p:spPr>
      </p:sp>
      <p:sp>
        <p:nvSpPr>
          <p:cNvPr id="12" name="Text 10"/>
          <p:cNvSpPr/>
          <p:nvPr/>
        </p:nvSpPr>
        <p:spPr>
          <a:xfrm>
            <a:off x="4719218" y="2148840"/>
            <a:ext cx="8229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0BC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▦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5725058" y="2194560"/>
            <a:ext cx="183885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620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Handling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5725058" y="2606040"/>
            <a:ext cx="1838858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5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pandas, NumPy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8249717" y="1828800"/>
            <a:ext cx="3393338" cy="1737360"/>
          </a:xfrm>
          <a:prstGeom prst="roundRect">
            <a:avLst>
              <a:gd name="adj" fmla="val 4211"/>
            </a:avLst>
          </a:prstGeom>
          <a:solidFill>
            <a:srgbClr val="F1F5F6"/>
          </a:solidFill>
          <a:ln/>
          <a:effectLst>
            <a:outerShdw sx="100000" sy="100000" kx="0" ky="0" algn="bl" rotWithShape="0" blurRad="101600" dist="38100" dir="5400000">
              <a:srgbClr val="000000">
                <a:alpha val="12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8569757" y="2148840"/>
            <a:ext cx="822960" cy="822960"/>
          </a:xfrm>
          <a:prstGeom prst="ellipse">
            <a:avLst/>
          </a:prstGeom>
          <a:solidFill>
            <a:srgbClr val="14181C"/>
          </a:solidFill>
          <a:ln/>
        </p:spPr>
      </p:sp>
      <p:sp>
        <p:nvSpPr>
          <p:cNvPr id="17" name="Text 15"/>
          <p:cNvSpPr/>
          <p:nvPr/>
        </p:nvSpPr>
        <p:spPr>
          <a:xfrm>
            <a:off x="8569757" y="2148840"/>
            <a:ext cx="8229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0BC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ƒ(x)</a:t>
            </a:r>
            <a:endParaRPr lang="en-US" sz="1800" dirty="0"/>
          </a:p>
        </p:txBody>
      </p:sp>
      <p:sp>
        <p:nvSpPr>
          <p:cNvPr id="18" name="Text 16"/>
          <p:cNvSpPr/>
          <p:nvPr/>
        </p:nvSpPr>
        <p:spPr>
          <a:xfrm>
            <a:off x="9575597" y="2194560"/>
            <a:ext cx="183885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620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Modelling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9575597" y="2606040"/>
            <a:ext cx="1838858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5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statsmodels, SciPy</a:t>
            </a:r>
            <a:endParaRPr lang="en-US" sz="1150" dirty="0"/>
          </a:p>
        </p:txBody>
      </p:sp>
      <p:sp>
        <p:nvSpPr>
          <p:cNvPr id="20" name="Shape 18"/>
          <p:cNvSpPr/>
          <p:nvPr/>
        </p:nvSpPr>
        <p:spPr>
          <a:xfrm>
            <a:off x="548640" y="3794760"/>
            <a:ext cx="3393338" cy="1737360"/>
          </a:xfrm>
          <a:prstGeom prst="roundRect">
            <a:avLst>
              <a:gd name="adj" fmla="val 4211"/>
            </a:avLst>
          </a:prstGeom>
          <a:solidFill>
            <a:srgbClr val="F1F5F6"/>
          </a:solidFill>
          <a:ln/>
          <a:effectLst>
            <a:outerShdw sx="100000" sy="100000" kx="0" ky="0" algn="bl" rotWithShape="0" blurRad="101600" dist="38100" dir="5400000">
              <a:srgbClr val="000000">
                <a:alpha val="12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868680" y="4114800"/>
            <a:ext cx="822960" cy="822960"/>
          </a:xfrm>
          <a:prstGeom prst="ellipse">
            <a:avLst/>
          </a:prstGeom>
          <a:solidFill>
            <a:srgbClr val="14181C"/>
          </a:solidFill>
          <a:ln/>
        </p:spPr>
      </p:sp>
      <p:sp>
        <p:nvSpPr>
          <p:cNvPr id="22" name="Text 20"/>
          <p:cNvSpPr/>
          <p:nvPr/>
        </p:nvSpPr>
        <p:spPr>
          <a:xfrm>
            <a:off x="868680" y="4114800"/>
            <a:ext cx="8229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0BC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☁</a:t>
            </a:r>
            <a:endParaRPr lang="en-US" sz="1800" dirty="0"/>
          </a:p>
        </p:txBody>
      </p:sp>
      <p:sp>
        <p:nvSpPr>
          <p:cNvPr id="23" name="Text 21"/>
          <p:cNvSpPr/>
          <p:nvPr/>
        </p:nvSpPr>
        <p:spPr>
          <a:xfrm>
            <a:off x="1874520" y="4160520"/>
            <a:ext cx="183885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620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Ingestion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1874520" y="4572000"/>
            <a:ext cx="1838858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5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requests, yfinance</a:t>
            </a:r>
            <a:endParaRPr lang="en-US" sz="1150" dirty="0"/>
          </a:p>
        </p:txBody>
      </p:sp>
      <p:sp>
        <p:nvSpPr>
          <p:cNvPr id="25" name="Shape 23"/>
          <p:cNvSpPr/>
          <p:nvPr/>
        </p:nvSpPr>
        <p:spPr>
          <a:xfrm>
            <a:off x="4399178" y="3794760"/>
            <a:ext cx="3393338" cy="1737360"/>
          </a:xfrm>
          <a:prstGeom prst="roundRect">
            <a:avLst>
              <a:gd name="adj" fmla="val 4211"/>
            </a:avLst>
          </a:prstGeom>
          <a:solidFill>
            <a:srgbClr val="F1F5F6"/>
          </a:solidFill>
          <a:ln/>
          <a:effectLst>
            <a:outerShdw sx="100000" sy="100000" kx="0" ky="0" algn="bl" rotWithShape="0" blurRad="101600" dist="38100" dir="5400000">
              <a:srgbClr val="000000">
                <a:alpha val="12000"/>
              </a:srgbClr>
            </a:outerShdw>
          </a:effectLst>
        </p:spPr>
      </p:sp>
      <p:sp>
        <p:nvSpPr>
          <p:cNvPr id="26" name="Shape 24"/>
          <p:cNvSpPr/>
          <p:nvPr/>
        </p:nvSpPr>
        <p:spPr>
          <a:xfrm>
            <a:off x="4719218" y="4114800"/>
            <a:ext cx="822960" cy="822960"/>
          </a:xfrm>
          <a:prstGeom prst="ellipse">
            <a:avLst/>
          </a:prstGeom>
          <a:solidFill>
            <a:srgbClr val="14181C"/>
          </a:solidFill>
          <a:ln/>
        </p:spPr>
      </p:sp>
      <p:sp>
        <p:nvSpPr>
          <p:cNvPr id="27" name="Text 25"/>
          <p:cNvSpPr/>
          <p:nvPr/>
        </p:nvSpPr>
        <p:spPr>
          <a:xfrm>
            <a:off x="4719218" y="4114800"/>
            <a:ext cx="8229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0BC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▣</a:t>
            </a:r>
            <a:endParaRPr lang="en-US" sz="1800" dirty="0"/>
          </a:p>
        </p:txBody>
      </p:sp>
      <p:sp>
        <p:nvSpPr>
          <p:cNvPr id="28" name="Text 26"/>
          <p:cNvSpPr/>
          <p:nvPr/>
        </p:nvSpPr>
        <p:spPr>
          <a:xfrm>
            <a:off x="5725058" y="4160520"/>
            <a:ext cx="183885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620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Dashboard</a:t>
            </a:r>
            <a:endParaRPr lang="en-US" sz="1300" dirty="0"/>
          </a:p>
        </p:txBody>
      </p:sp>
      <p:sp>
        <p:nvSpPr>
          <p:cNvPr id="29" name="Text 27"/>
          <p:cNvSpPr/>
          <p:nvPr/>
        </p:nvSpPr>
        <p:spPr>
          <a:xfrm>
            <a:off x="5725058" y="4572000"/>
            <a:ext cx="1838858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5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Streamlit</a:t>
            </a:r>
            <a:endParaRPr lang="en-US" sz="1150" dirty="0"/>
          </a:p>
        </p:txBody>
      </p:sp>
      <p:sp>
        <p:nvSpPr>
          <p:cNvPr id="30" name="Shape 28"/>
          <p:cNvSpPr/>
          <p:nvPr/>
        </p:nvSpPr>
        <p:spPr>
          <a:xfrm>
            <a:off x="8249717" y="3794760"/>
            <a:ext cx="3393338" cy="1737360"/>
          </a:xfrm>
          <a:prstGeom prst="roundRect">
            <a:avLst>
              <a:gd name="adj" fmla="val 4211"/>
            </a:avLst>
          </a:prstGeom>
          <a:solidFill>
            <a:srgbClr val="F1F5F6"/>
          </a:solidFill>
          <a:ln/>
          <a:effectLst>
            <a:outerShdw sx="100000" sy="100000" kx="0" ky="0" algn="bl" rotWithShape="0" blurRad="101600" dist="38100" dir="5400000">
              <a:srgbClr val="000000">
                <a:alpha val="12000"/>
              </a:srgbClr>
            </a:outerShdw>
          </a:effectLst>
        </p:spPr>
      </p:sp>
      <p:sp>
        <p:nvSpPr>
          <p:cNvPr id="31" name="Shape 29"/>
          <p:cNvSpPr/>
          <p:nvPr/>
        </p:nvSpPr>
        <p:spPr>
          <a:xfrm>
            <a:off x="8569757" y="4114800"/>
            <a:ext cx="822960" cy="822960"/>
          </a:xfrm>
          <a:prstGeom prst="ellipse">
            <a:avLst/>
          </a:prstGeom>
          <a:solidFill>
            <a:srgbClr val="14181C"/>
          </a:solidFill>
          <a:ln/>
        </p:spPr>
      </p:sp>
      <p:sp>
        <p:nvSpPr>
          <p:cNvPr id="32" name="Text 30"/>
          <p:cNvSpPr/>
          <p:nvPr/>
        </p:nvSpPr>
        <p:spPr>
          <a:xfrm>
            <a:off x="8569757" y="4114800"/>
            <a:ext cx="8229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0BC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⌗</a:t>
            </a:r>
            <a:endParaRPr lang="en-US" sz="1800" dirty="0"/>
          </a:p>
        </p:txBody>
      </p:sp>
      <p:sp>
        <p:nvSpPr>
          <p:cNvPr id="33" name="Text 31"/>
          <p:cNvSpPr/>
          <p:nvPr/>
        </p:nvSpPr>
        <p:spPr>
          <a:xfrm>
            <a:off x="9575597" y="4160520"/>
            <a:ext cx="183885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620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Visualisation</a:t>
            </a:r>
            <a:endParaRPr lang="en-US" sz="1300" dirty="0"/>
          </a:p>
        </p:txBody>
      </p:sp>
      <p:sp>
        <p:nvSpPr>
          <p:cNvPr id="34" name="Text 32"/>
          <p:cNvSpPr/>
          <p:nvPr/>
        </p:nvSpPr>
        <p:spPr>
          <a:xfrm>
            <a:off x="9575597" y="4572000"/>
            <a:ext cx="1838858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5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Plotly</a:t>
            </a:r>
            <a:endParaRPr lang="en-US" sz="1150" dirty="0"/>
          </a:p>
        </p:txBody>
      </p:sp>
      <p:sp>
        <p:nvSpPr>
          <p:cNvPr id="35" name="Text 33"/>
          <p:cNvSpPr/>
          <p:nvPr/>
        </p:nvSpPr>
        <p:spPr>
          <a:xfrm>
            <a:off x="457200" y="6473952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Cryptocurrency Market Analysis System</a:t>
            </a:r>
            <a:endParaRPr lang="en-US" sz="900" dirty="0"/>
          </a:p>
        </p:txBody>
      </p:sp>
      <p:sp>
        <p:nvSpPr>
          <p:cNvPr id="36" name="Text 34"/>
          <p:cNvSpPr/>
          <p:nvPr/>
        </p:nvSpPr>
        <p:spPr>
          <a:xfrm>
            <a:off x="11277295" y="6473952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164592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spc="200" kern="0" dirty="0">
                <a:solidFill>
                  <a:srgbClr val="00BC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411480"/>
            <a:ext cx="11094415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620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We're Seeing Right Now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48640" y="1600200"/>
            <a:ext cx="10607040" cy="960120"/>
          </a:xfrm>
          <a:prstGeom prst="roundRect">
            <a:avLst>
              <a:gd name="adj" fmla="val 7619"/>
            </a:avLst>
          </a:prstGeom>
          <a:solidFill>
            <a:srgbClr val="F1F5F6"/>
          </a:solidFill>
          <a:ln/>
        </p:spPr>
      </p:sp>
      <p:sp>
        <p:nvSpPr>
          <p:cNvPr id="5" name="Shape 3"/>
          <p:cNvSpPr/>
          <p:nvPr/>
        </p:nvSpPr>
        <p:spPr>
          <a:xfrm>
            <a:off x="777240" y="1783080"/>
            <a:ext cx="566928" cy="566928"/>
          </a:xfrm>
          <a:prstGeom prst="ellipse">
            <a:avLst/>
          </a:prstGeom>
          <a:solidFill>
            <a:srgbClr val="2ECC71"/>
          </a:solidFill>
          <a:ln/>
        </p:spPr>
      </p:sp>
      <p:sp>
        <p:nvSpPr>
          <p:cNvPr id="6" name="Text 4"/>
          <p:cNvSpPr/>
          <p:nvPr/>
        </p:nvSpPr>
        <p:spPr>
          <a:xfrm>
            <a:off x="777240" y="1783080"/>
            <a:ext cx="566928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418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1600200" y="1709928"/>
            <a:ext cx="93268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20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BTC is reading Accumulation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1600200" y="2029968"/>
            <a:ext cx="93268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5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RSI 47, 8.2% below its 200-day average, 49% off the window high — a quiet base, not a trend.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548640" y="2715768"/>
            <a:ext cx="10607040" cy="960120"/>
          </a:xfrm>
          <a:prstGeom prst="roundRect">
            <a:avLst>
              <a:gd name="adj" fmla="val 7619"/>
            </a:avLst>
          </a:prstGeom>
          <a:solidFill>
            <a:srgbClr val="F1F5F6"/>
          </a:solidFill>
          <a:ln/>
        </p:spPr>
      </p:sp>
      <p:sp>
        <p:nvSpPr>
          <p:cNvPr id="10" name="Shape 8"/>
          <p:cNvSpPr/>
          <p:nvPr/>
        </p:nvSpPr>
        <p:spPr>
          <a:xfrm>
            <a:off x="777240" y="2898648"/>
            <a:ext cx="566928" cy="566928"/>
          </a:xfrm>
          <a:prstGeom prst="ellipse">
            <a:avLst/>
          </a:prstGeom>
          <a:solidFill>
            <a:srgbClr val="2ECC71"/>
          </a:solidFill>
          <a:ln/>
        </p:spPr>
      </p:sp>
      <p:sp>
        <p:nvSpPr>
          <p:cNvPr id="11" name="Text 9"/>
          <p:cNvSpPr/>
          <p:nvPr/>
        </p:nvSpPr>
        <p:spPr>
          <a:xfrm>
            <a:off x="777240" y="2898648"/>
            <a:ext cx="566928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418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1600200" y="2825496"/>
            <a:ext cx="93268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20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Downside risk is real and visible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1600200" y="3145536"/>
            <a:ext cx="93268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5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Sharpe −1.33, Sortino −1.76 over this window. The risk table exists to surface that before you invest, not after.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548640" y="3831336"/>
            <a:ext cx="10607040" cy="960120"/>
          </a:xfrm>
          <a:prstGeom prst="roundRect">
            <a:avLst>
              <a:gd name="adj" fmla="val 7619"/>
            </a:avLst>
          </a:prstGeom>
          <a:solidFill>
            <a:srgbClr val="F1F5F6"/>
          </a:solidFill>
          <a:ln/>
        </p:spPr>
      </p:sp>
      <p:sp>
        <p:nvSpPr>
          <p:cNvPr id="15" name="Shape 13"/>
          <p:cNvSpPr/>
          <p:nvPr/>
        </p:nvSpPr>
        <p:spPr>
          <a:xfrm>
            <a:off x="777240" y="4014216"/>
            <a:ext cx="566928" cy="566928"/>
          </a:xfrm>
          <a:prstGeom prst="ellipse">
            <a:avLst/>
          </a:prstGeom>
          <a:solidFill>
            <a:srgbClr val="2ECC71"/>
          </a:solidFill>
          <a:ln/>
        </p:spPr>
      </p:sp>
      <p:sp>
        <p:nvSpPr>
          <p:cNvPr id="16" name="Text 14"/>
          <p:cNvSpPr/>
          <p:nvPr/>
        </p:nvSpPr>
        <p:spPr>
          <a:xfrm>
            <a:off x="777240" y="4014216"/>
            <a:ext cx="566928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418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1600200" y="3941064"/>
            <a:ext cx="93268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20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forecast is honest about its limits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1600200" y="4261104"/>
            <a:ext cx="93268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5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ARIMA(0,1,0) didn't beat a naive random-walk guess this run — exactly what a near-random-walk asset should produce.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548640" y="4946904"/>
            <a:ext cx="10607040" cy="960120"/>
          </a:xfrm>
          <a:prstGeom prst="roundRect">
            <a:avLst>
              <a:gd name="adj" fmla="val 7619"/>
            </a:avLst>
          </a:prstGeom>
          <a:solidFill>
            <a:srgbClr val="F1F5F6"/>
          </a:solidFill>
          <a:ln/>
        </p:spPr>
      </p:sp>
      <p:sp>
        <p:nvSpPr>
          <p:cNvPr id="20" name="Shape 18"/>
          <p:cNvSpPr/>
          <p:nvPr/>
        </p:nvSpPr>
        <p:spPr>
          <a:xfrm>
            <a:off x="777240" y="5129784"/>
            <a:ext cx="566928" cy="566928"/>
          </a:xfrm>
          <a:prstGeom prst="ellipse">
            <a:avLst/>
          </a:prstGeom>
          <a:solidFill>
            <a:srgbClr val="2ECC71"/>
          </a:solidFill>
          <a:ln/>
        </p:spPr>
      </p:sp>
      <p:sp>
        <p:nvSpPr>
          <p:cNvPr id="21" name="Text 19"/>
          <p:cNvSpPr/>
          <p:nvPr/>
        </p:nvSpPr>
        <p:spPr>
          <a:xfrm>
            <a:off x="777240" y="5129784"/>
            <a:ext cx="566928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418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500" dirty="0"/>
          </a:p>
        </p:txBody>
      </p:sp>
      <p:sp>
        <p:nvSpPr>
          <p:cNvPr id="22" name="Text 20"/>
          <p:cNvSpPr/>
          <p:nvPr/>
        </p:nvSpPr>
        <p:spPr>
          <a:xfrm>
            <a:off x="1600200" y="5056632"/>
            <a:ext cx="93268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20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whole pipeline runs live, end to end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1600200" y="5376672"/>
            <a:ext cx="93268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5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Six tabs, four live feeds, validated with no runtime errors — this isn't a static mockup.</a:t>
            </a:r>
            <a:endParaRPr lang="en-US" sz="1150" dirty="0"/>
          </a:p>
        </p:txBody>
      </p:sp>
      <p:sp>
        <p:nvSpPr>
          <p:cNvPr id="24" name="Text 22"/>
          <p:cNvSpPr/>
          <p:nvPr/>
        </p:nvSpPr>
        <p:spPr>
          <a:xfrm>
            <a:off x="457200" y="6473952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Cryptocurrency Market Analysis System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11277295" y="6473952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164592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spc="200" kern="0" dirty="0">
                <a:solidFill>
                  <a:srgbClr val="00BC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LOOKING AHEAD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411480"/>
            <a:ext cx="11094415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620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Limitations &amp; Future Scope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48640" y="1554480"/>
            <a:ext cx="5318608" cy="502920"/>
          </a:xfrm>
          <a:prstGeom prst="roundRect">
            <a:avLst>
              <a:gd name="adj" fmla="val 14545"/>
            </a:avLst>
          </a:prstGeom>
          <a:solidFill>
            <a:srgbClr val="14181C"/>
          </a:solidFill>
          <a:ln/>
        </p:spPr>
      </p:sp>
      <p:sp>
        <p:nvSpPr>
          <p:cNvPr id="5" name="Text 3"/>
          <p:cNvSpPr/>
          <p:nvPr/>
        </p:nvSpPr>
        <p:spPr>
          <a:xfrm>
            <a:off x="548640" y="1554480"/>
            <a:ext cx="5318608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spc="200" kern="0" dirty="0">
                <a:solidFill>
                  <a:srgbClr val="F5F9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LIMITATIONS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548640" y="2286000"/>
            <a:ext cx="2743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5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–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822960" y="2286000"/>
            <a:ext cx="5044288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1620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Free-tier APIs cap history at roughly one year of daily data.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548640" y="2852928"/>
            <a:ext cx="2743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5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–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822960" y="2852928"/>
            <a:ext cx="5044288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1620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Sentiment uses the composite Fear &amp; Greed index, not raw social-text NLP.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548640" y="3419856"/>
            <a:ext cx="2743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5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–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822960" y="3419856"/>
            <a:ext cx="5044288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1620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On-chain metrics are limited to Bitcoin.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548640" y="3986784"/>
            <a:ext cx="2743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5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–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822960" y="3986784"/>
            <a:ext cx="5044288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1620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ARIMA is linear — it misses regime shifts and non-linear dynamics.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548640" y="4553712"/>
            <a:ext cx="2743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5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–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822960" y="4553712"/>
            <a:ext cx="5044288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1620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Educational and analytical only — not investment advice; no trade execution.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6324448" y="1554480"/>
            <a:ext cx="5318608" cy="502920"/>
          </a:xfrm>
          <a:prstGeom prst="roundRect">
            <a:avLst>
              <a:gd name="adj" fmla="val 14545"/>
            </a:avLst>
          </a:prstGeom>
          <a:solidFill>
            <a:srgbClr val="00BCD4"/>
          </a:solidFill>
          <a:ln/>
        </p:spPr>
      </p:sp>
      <p:sp>
        <p:nvSpPr>
          <p:cNvPr id="17" name="Text 15"/>
          <p:cNvSpPr/>
          <p:nvPr/>
        </p:nvSpPr>
        <p:spPr>
          <a:xfrm>
            <a:off x="6324448" y="1554480"/>
            <a:ext cx="5318608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spc="200" kern="0" dirty="0">
                <a:solidFill>
                  <a:srgbClr val="1418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FUTURE SCOPE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6324448" y="2286000"/>
            <a:ext cx="2743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5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–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6598768" y="2286000"/>
            <a:ext cx="5044288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1620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Alternative forecasters (Prophet, exponential smoothing, LSTM) behind the same result interface.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6324448" y="2852928"/>
            <a:ext cx="2743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5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–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6598768" y="2852928"/>
            <a:ext cx="5044288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1620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Portfolio-level view with correlation-weighted VaR across holdings.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6324448" y="3419856"/>
            <a:ext cx="2743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5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–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6598768" y="3419856"/>
            <a:ext cx="5044288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1620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Direct social-media sentiment via NLP on news and social feeds.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6324448" y="3986784"/>
            <a:ext cx="2743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5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–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598768" y="3986784"/>
            <a:ext cx="5044288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1620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Extend on-chain analytics to more networks and richer metrics.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6324448" y="4553712"/>
            <a:ext cx="2743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5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–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6598768" y="4553712"/>
            <a:ext cx="5044288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1620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Managed cloud deployment with scheduled refresh and alerting.</a:t>
            </a:r>
            <a:endParaRPr lang="en-US" sz="1200" dirty="0"/>
          </a:p>
        </p:txBody>
      </p:sp>
      <p:sp>
        <p:nvSpPr>
          <p:cNvPr id="28" name="Text 26"/>
          <p:cNvSpPr/>
          <p:nvPr/>
        </p:nvSpPr>
        <p:spPr>
          <a:xfrm>
            <a:off x="457200" y="6473952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Cryptocurrency Market Analysis System</a:t>
            </a:r>
            <a:endParaRPr lang="en-US" sz="900" dirty="0"/>
          </a:p>
        </p:txBody>
      </p:sp>
      <p:sp>
        <p:nvSpPr>
          <p:cNvPr id="29" name="Text 27"/>
          <p:cNvSpPr/>
          <p:nvPr/>
        </p:nvSpPr>
        <p:spPr>
          <a:xfrm>
            <a:off x="11277295" y="6473952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1418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164592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spc="200" kern="0" dirty="0">
                <a:solidFill>
                  <a:srgbClr val="00BC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CONCLUSION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1234440"/>
            <a:ext cx="10515600" cy="1554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3600" b="1" dirty="0">
                <a:solidFill>
                  <a:srgbClr val="F5F9F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Real Product, Not</a:t>
            </a:r>
            <a:endParaRPr lang="en-US" sz="360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3600" b="1" dirty="0">
                <a:solidFill>
                  <a:srgbClr val="F5F9F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Just a Report</a:t>
            </a:r>
            <a:endParaRPr lang="en-US" sz="3600" dirty="0"/>
          </a:p>
        </p:txBody>
      </p:sp>
      <p:sp>
        <p:nvSpPr>
          <p:cNvPr id="4" name="Text 2"/>
          <p:cNvSpPr/>
          <p:nvPr/>
        </p:nvSpPr>
        <p:spPr>
          <a:xfrm>
            <a:off x="548640" y="2880360"/>
            <a:ext cx="7680960" cy="1737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5000"/>
              </a:lnSpc>
              <a:buNone/>
            </a:pPr>
            <a:r>
              <a:rPr lang="en-US" sz="1500" dirty="0">
                <a:solidFill>
                  <a:srgbClr val="9FB0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Four live analyses, six real-time data feeds, and a dashboard that's actually deployed and running — not a mockup, not a slide deck pretending to be software. It reports uncertainty honestly, degrades gracefully when a feed goes down, and gives a non-technical investor a coherent read on digital-asset risk in one place.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8595360" y="3017520"/>
            <a:ext cx="30175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00BCD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</a:t>
            </a:r>
            <a:endParaRPr lang="en-US" sz="4000" dirty="0"/>
          </a:p>
        </p:txBody>
      </p:sp>
      <p:sp>
        <p:nvSpPr>
          <p:cNvPr id="6" name="Text 4"/>
          <p:cNvSpPr/>
          <p:nvPr/>
        </p:nvSpPr>
        <p:spPr>
          <a:xfrm>
            <a:off x="8595360" y="3675888"/>
            <a:ext cx="3017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spc="150" kern="0" dirty="0">
                <a:solidFill>
                  <a:srgbClr val="9FB0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ASSETS TRACKED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8595360" y="4023360"/>
            <a:ext cx="30175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00BCD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4000" dirty="0"/>
          </a:p>
        </p:txBody>
      </p:sp>
      <p:sp>
        <p:nvSpPr>
          <p:cNvPr id="8" name="Text 6"/>
          <p:cNvSpPr/>
          <p:nvPr/>
        </p:nvSpPr>
        <p:spPr>
          <a:xfrm>
            <a:off x="8595360" y="4681728"/>
            <a:ext cx="3017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spc="150" kern="0" dirty="0">
                <a:solidFill>
                  <a:srgbClr val="9FB0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DATA FEEDS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457200" y="6473952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9FB0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Cryptocurrency Market Analysis System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11277295" y="6473952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FB0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1418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2377440" y="-2194560"/>
            <a:ext cx="5486400" cy="5486400"/>
          </a:xfrm>
          <a:prstGeom prst="ellipse">
            <a:avLst/>
          </a:prstGeom>
          <a:solidFill>
            <a:srgbClr val="1D2329"/>
          </a:solidFill>
          <a:ln/>
        </p:spPr>
      </p:sp>
      <p:sp>
        <p:nvSpPr>
          <p:cNvPr id="3" name="Shape 1"/>
          <p:cNvSpPr/>
          <p:nvPr/>
        </p:nvSpPr>
        <p:spPr>
          <a:xfrm>
            <a:off x="9692640" y="4206240"/>
            <a:ext cx="4937760" cy="4937760"/>
          </a:xfrm>
          <a:prstGeom prst="ellipse">
            <a:avLst/>
          </a:prstGeom>
          <a:solidFill>
            <a:srgbClr val="1D2329"/>
          </a:solidFill>
          <a:ln/>
        </p:spPr>
      </p:sp>
      <p:sp>
        <p:nvSpPr>
          <p:cNvPr id="4" name="Text 2"/>
          <p:cNvSpPr/>
          <p:nvPr/>
        </p:nvSpPr>
        <p:spPr>
          <a:xfrm>
            <a:off x="0" y="1371600"/>
            <a:ext cx="12191695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600" b="1" dirty="0">
                <a:solidFill>
                  <a:srgbClr val="F5F9F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Thank You</a:t>
            </a:r>
            <a:endParaRPr lang="en-US" sz="4600" dirty="0"/>
          </a:p>
        </p:txBody>
      </p:sp>
      <p:sp>
        <p:nvSpPr>
          <p:cNvPr id="5" name="Text 3"/>
          <p:cNvSpPr/>
          <p:nvPr/>
        </p:nvSpPr>
        <p:spPr>
          <a:xfrm>
            <a:off x="0" y="2331720"/>
            <a:ext cx="12191695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i="1" dirty="0">
                <a:solidFill>
                  <a:srgbClr val="00BC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Questions &amp; Discussion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23748" y="3749040"/>
            <a:ext cx="2514600" cy="777240"/>
          </a:xfrm>
          <a:prstGeom prst="roundRect">
            <a:avLst>
              <a:gd name="adj" fmla="val 8235"/>
            </a:avLst>
          </a:prstGeom>
          <a:solidFill>
            <a:srgbClr val="1D2329"/>
          </a:solidFill>
          <a:ln w="12700">
            <a:solidFill>
              <a:srgbClr val="2A333A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23748" y="3749040"/>
            <a:ext cx="25146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F5F9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Garima Aishwarya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3466948" y="3749040"/>
            <a:ext cx="2514600" cy="777240"/>
          </a:xfrm>
          <a:prstGeom prst="roundRect">
            <a:avLst>
              <a:gd name="adj" fmla="val 8235"/>
            </a:avLst>
          </a:prstGeom>
          <a:solidFill>
            <a:srgbClr val="1D2329"/>
          </a:solidFill>
          <a:ln w="12700">
            <a:solidFill>
              <a:srgbClr val="2A333A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466948" y="3749040"/>
            <a:ext cx="25146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F5F9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Dikshant Pargai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6210148" y="3749040"/>
            <a:ext cx="2514600" cy="777240"/>
          </a:xfrm>
          <a:prstGeom prst="roundRect">
            <a:avLst>
              <a:gd name="adj" fmla="val 8235"/>
            </a:avLst>
          </a:prstGeom>
          <a:solidFill>
            <a:srgbClr val="1D2329"/>
          </a:solidFill>
          <a:ln w="12700">
            <a:solidFill>
              <a:srgbClr val="2A333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210148" y="3749040"/>
            <a:ext cx="25146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F5F9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Divyanshu Singh</a:t>
            </a:r>
            <a:endParaRPr lang="en-US" sz="1350" dirty="0"/>
          </a:p>
        </p:txBody>
      </p:sp>
      <p:sp>
        <p:nvSpPr>
          <p:cNvPr id="12" name="Shape 10"/>
          <p:cNvSpPr/>
          <p:nvPr/>
        </p:nvSpPr>
        <p:spPr>
          <a:xfrm>
            <a:off x="8953348" y="3749040"/>
            <a:ext cx="2514600" cy="777240"/>
          </a:xfrm>
          <a:prstGeom prst="roundRect">
            <a:avLst>
              <a:gd name="adj" fmla="val 8235"/>
            </a:avLst>
          </a:prstGeom>
          <a:solidFill>
            <a:srgbClr val="1D2329"/>
          </a:solidFill>
          <a:ln w="12700">
            <a:solidFill>
              <a:srgbClr val="2A333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953348" y="3749040"/>
            <a:ext cx="25146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F5F9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Nayan Bansal</a:t>
            </a:r>
            <a:endParaRPr lang="en-US" sz="1350" dirty="0"/>
          </a:p>
        </p:txBody>
      </p:sp>
      <p:sp>
        <p:nvSpPr>
          <p:cNvPr id="14" name="Text 12"/>
          <p:cNvSpPr/>
          <p:nvPr/>
        </p:nvSpPr>
        <p:spPr>
          <a:xfrm>
            <a:off x="0" y="6035040"/>
            <a:ext cx="1219169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9FB0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cryptomarketanalysis.streamlit.app  ·  github.com/garimaaish1111/crypto-market-analysis</a:t>
            </a:r>
            <a:endParaRPr lang="en-US" sz="11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2026-08-17T08:30:29Z</dcterms:created>
  <dcterms:modified xsi:type="dcterms:W3CDTF">2026-08-17T08:30:29Z</dcterms:modified>
</cp:coreProperties>
</file>