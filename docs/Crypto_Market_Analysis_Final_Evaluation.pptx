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BTC</c:v>
                </c:pt>
              </c:strCache>
            </c:strRef>
          </c:tx>
          <c:spPr>
            <a:solidFill>
              <a:srgbClr val="00BCD4"/>
            </a:solidFill>
            <a:ln w="28575" cap="flat">
              <a:solidFill>
                <a:srgbClr val="00BCD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BCD4"/>
              </a:solidFill>
              <a:ln w="9525" cap="flat">
                <a:solidFill>
                  <a:srgbClr val="00BC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S</c:v>
                  </c:pt>
                  <c:pt idx="1">
                    <c:v>O</c:v>
                  </c:pt>
                  <c:pt idx="2">
                    <c:v>N</c:v>
                  </c:pt>
                  <c:pt idx="3">
                    <c:v>D</c:v>
                  </c:pt>
                  <c:pt idx="4">
                    <c:v>J</c:v>
                  </c:pt>
                  <c:pt idx="5">
                    <c:v>F</c:v>
                  </c:pt>
                  <c:pt idx="6">
                    <c:v>M</c:v>
                  </c:pt>
                  <c:pt idx="7">
                    <c:v>A</c:v>
                  </c:pt>
                  <c:pt idx="8">
                    <c:v>M</c:v>
                  </c:pt>
                  <c:pt idx="9">
                    <c:v>J</c:v>
                  </c:pt>
                  <c:pt idx="10">
                    <c:v>J</c:v>
                  </c:pt>
                  <c:pt idx="11">
                    <c:v>A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98</c:v>
                </c:pt>
                <c:pt idx="1">
                  <c:v>101</c:v>
                </c:pt>
                <c:pt idx="2">
                  <c:v>92</c:v>
                </c:pt>
                <c:pt idx="3">
                  <c:v>78</c:v>
                </c:pt>
                <c:pt idx="4">
                  <c:v>82</c:v>
                </c:pt>
                <c:pt idx="5">
                  <c:v>75</c:v>
                </c:pt>
                <c:pt idx="6">
                  <c:v>70</c:v>
                </c:pt>
                <c:pt idx="7">
                  <c:v>68</c:v>
                </c:pt>
                <c:pt idx="8">
                  <c:v>65</c:v>
                </c:pt>
                <c:pt idx="9">
                  <c:v>61</c:v>
                </c:pt>
                <c:pt idx="10">
                  <c:v>63</c:v>
                </c:pt>
                <c:pt idx="11">
                  <c:v>63.5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3A444C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9FB0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2A333A"/>
              </a:solidFill>
              <a:prstDash val="solid"/>
              <a:round/>
            </a:ln>
          </c:spPr>
        </c:majorGridlines>
        <c:numFmt formatCode="$0k" sourceLinked="0"/>
        <c:majorTickMark val="out"/>
        <c:minorTickMark val="none"/>
        <c:tickLblPos val="nextTo"/>
        <c:spPr>
          <a:ln w="12700" cap="flat">
            <a:solidFill>
              <a:srgbClr val="3A444C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9FB0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232A31"/>
        </a:solidFill>
        <a:ln>
          <a:noFill/>
        </a:ln>
        <a:effectLst/>
      </c:spPr>
    </c:plotArea>
    <c:plotVisOnly val="1"/>
    <c:dispBlanksAs val="span"/>
  </c:chart>
  <c:spPr>
    <a:solidFill>
      <a:srgbClr val="232A31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828800"/>
            <a:ext cx="5486400" cy="5486400"/>
          </a:xfrm>
          <a:prstGeom prst="ellipse">
            <a:avLst/>
          </a:prstGeom>
          <a:solidFill>
            <a:srgbClr val="1D2329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-548640"/>
            <a:ext cx="2926080" cy="2926080"/>
          </a:xfrm>
          <a:prstGeom prst="ellipse">
            <a:avLst/>
          </a:prstGeom>
          <a:solidFill>
            <a:srgbClr val="00BCD4"/>
          </a:solidFill>
          <a:ln/>
        </p:spPr>
      </p:sp>
      <p:sp>
        <p:nvSpPr>
          <p:cNvPr id="4" name="Shape 2"/>
          <p:cNvSpPr/>
          <p:nvPr/>
        </p:nvSpPr>
        <p:spPr>
          <a:xfrm>
            <a:off x="-2194560" y="4206240"/>
            <a:ext cx="4754880" cy="4754880"/>
          </a:xfrm>
          <a:prstGeom prst="ellipse">
            <a:avLst/>
          </a:prstGeom>
          <a:solidFill>
            <a:srgbClr val="1D2329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17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EVALUATION PRESENTATION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828800"/>
            <a:ext cx="98755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rgbClr val="F5F9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Cryptocurrency Market</a:t>
            </a:r>
            <a:endParaRPr lang="en-US" sz="5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rgbClr val="F5F9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Analysis System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3703320"/>
            <a:ext cx="8778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data-driven dashboard for volatility &amp; risk, market-cycle identification,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cross-asset correlation, and short-horizon price forecasting.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4892040"/>
            <a:ext cx="2514600" cy="777240"/>
          </a:xfrm>
          <a:prstGeom prst="roundRect">
            <a:avLst>
              <a:gd name="adj" fmla="val 8235"/>
            </a:avLst>
          </a:prstGeom>
          <a:solidFill>
            <a:srgbClr val="1D2329"/>
          </a:solidFill>
          <a:ln w="12700">
            <a:solidFill>
              <a:srgbClr val="2A33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89204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Garima Aishwarya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566160" y="4892040"/>
            <a:ext cx="2514600" cy="777240"/>
          </a:xfrm>
          <a:prstGeom prst="roundRect">
            <a:avLst>
              <a:gd name="adj" fmla="val 8235"/>
            </a:avLst>
          </a:prstGeom>
          <a:solidFill>
            <a:srgbClr val="1D2329"/>
          </a:solidFill>
          <a:ln w="12700">
            <a:solidFill>
              <a:srgbClr val="2A33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66160" y="489204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Dikshant Pargai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309360" y="4892040"/>
            <a:ext cx="2514600" cy="777240"/>
          </a:xfrm>
          <a:prstGeom prst="roundRect">
            <a:avLst>
              <a:gd name="adj" fmla="val 8235"/>
            </a:avLst>
          </a:prstGeom>
          <a:solidFill>
            <a:srgbClr val="1D2329"/>
          </a:solidFill>
          <a:ln w="12700">
            <a:solidFill>
              <a:srgbClr val="2A33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489204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Divyanshu Singh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9052560" y="4892040"/>
            <a:ext cx="2514600" cy="777240"/>
          </a:xfrm>
          <a:prstGeom prst="roundRect">
            <a:avLst>
              <a:gd name="adj" fmla="val 8235"/>
            </a:avLst>
          </a:prstGeom>
          <a:solidFill>
            <a:srgbClr val="1D2329"/>
          </a:solidFill>
          <a:ln w="12700">
            <a:solidFill>
              <a:srgbClr val="2A33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52560" y="489204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Nayan Bansal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18608" cy="1188720"/>
          </a:xfrm>
          <a:prstGeom prst="roundRect">
            <a:avLst>
              <a:gd name="adj" fmla="val 6154"/>
            </a:avLst>
          </a:prstGeom>
          <a:solidFill>
            <a:srgbClr val="F1F5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600200"/>
            <a:ext cx="914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BC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600200" y="1764792"/>
            <a:ext cx="403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Objectives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00200" y="2194560"/>
            <a:ext cx="40384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project, and what it set out to do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24448" y="1600200"/>
            <a:ext cx="5318608" cy="1188720"/>
          </a:xfrm>
          <a:prstGeom prst="roundRect">
            <a:avLst>
              <a:gd name="adj" fmla="val 6154"/>
            </a:avLst>
          </a:prstGeom>
          <a:solidFill>
            <a:srgbClr val="F1F5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53048" y="1600200"/>
            <a:ext cx="914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BC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376008" y="1764792"/>
            <a:ext cx="403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Scope, Data Sources &amp; Architecture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76008" y="2194560"/>
            <a:ext cx="40384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 tracked, feeds used, and system layers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017520"/>
            <a:ext cx="5318608" cy="1188720"/>
          </a:xfrm>
          <a:prstGeom prst="roundRect">
            <a:avLst>
              <a:gd name="adj" fmla="val 6154"/>
            </a:avLst>
          </a:prstGeom>
          <a:solidFill>
            <a:srgbClr val="F1F5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3017520"/>
            <a:ext cx="914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BC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600200" y="3182112"/>
            <a:ext cx="403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Object-Oriented Analysis &amp; Design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600200" y="3611880"/>
            <a:ext cx="40384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Use-case and domain (class) models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24448" y="3017520"/>
            <a:ext cx="5318608" cy="1188720"/>
          </a:xfrm>
          <a:prstGeom prst="roundRect">
            <a:avLst>
              <a:gd name="adj" fmla="val 6154"/>
            </a:avLst>
          </a:prstGeom>
          <a:solidFill>
            <a:srgbClr val="F1F5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53048" y="3017520"/>
            <a:ext cx="914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BC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376008" y="3182112"/>
            <a:ext cx="403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376008" y="3611880"/>
            <a:ext cx="40384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Volatility, market cycles, correlation, forecasting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434840"/>
            <a:ext cx="5318608" cy="1188720"/>
          </a:xfrm>
          <a:prstGeom prst="roundRect">
            <a:avLst>
              <a:gd name="adj" fmla="val 6154"/>
            </a:avLst>
          </a:prstGeom>
          <a:solidFill>
            <a:srgbClr val="F1F5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77240" y="4434840"/>
            <a:ext cx="914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BC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1600200" y="4599432"/>
            <a:ext cx="403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Walkthrough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600200" y="5029200"/>
            <a:ext cx="40384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six analysis tabs, live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24448" y="4434840"/>
            <a:ext cx="5318608" cy="1188720"/>
          </a:xfrm>
          <a:prstGeom prst="roundRect">
            <a:avLst>
              <a:gd name="adj" fmla="val 6154"/>
            </a:avLst>
          </a:prstGeom>
          <a:solidFill>
            <a:srgbClr val="F1F5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53048" y="4434840"/>
            <a:ext cx="914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BC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376008" y="4599432"/>
            <a:ext cx="403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Results, Limitations &amp; Future Scope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376008" y="5029200"/>
            <a:ext cx="40384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found, what's next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Crypto Data Is Rich but Fragmented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60350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history, trading volume, blockchain activity, market sentiment, and traditional-asset prices each live in a different place, in a different shape, updated on a different schedule. An investor who wants a coherent, explainable read on digital-asset risk has to assemble it by hand.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3840480"/>
            <a:ext cx="6035040" cy="1691640"/>
          </a:xfrm>
          <a:prstGeom prst="roundRect">
            <a:avLst>
              <a:gd name="adj" fmla="val 4324"/>
            </a:avLst>
          </a:prstGeom>
          <a:solidFill>
            <a:srgbClr val="F1F5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3840480"/>
            <a:ext cx="544068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i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consolidates all of it into one analytical pipeline and one interactive dashboard — quantifying volatility and risk, identifying market-cycle phase, measuring digital-vs-traditional correlation, and forecasting price with honest uncertainty.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78040" y="1554480"/>
            <a:ext cx="1965960" cy="594360"/>
          </a:xfrm>
          <a:prstGeom prst="roundRect">
            <a:avLst>
              <a:gd name="adj" fmla="val 49231"/>
            </a:avLst>
          </a:prstGeom>
          <a:solidFill>
            <a:srgbClr val="F1F5F6"/>
          </a:solidFill>
          <a:ln w="12700">
            <a:solidFill>
              <a:srgbClr val="DCE4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78040" y="155448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&amp; Volume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326880" y="1965960"/>
            <a:ext cx="1965960" cy="594360"/>
          </a:xfrm>
          <a:prstGeom prst="roundRect">
            <a:avLst>
              <a:gd name="adj" fmla="val 49231"/>
            </a:avLst>
          </a:prstGeom>
          <a:solidFill>
            <a:srgbClr val="F1F5F6"/>
          </a:solidFill>
          <a:ln w="12700">
            <a:solidFill>
              <a:srgbClr val="DCE4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0" y="196596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Activity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178040" y="2606040"/>
            <a:ext cx="1965960" cy="594360"/>
          </a:xfrm>
          <a:prstGeom prst="roundRect">
            <a:avLst>
              <a:gd name="adj" fmla="val 49231"/>
            </a:avLst>
          </a:prstGeom>
          <a:solidFill>
            <a:srgbClr val="F1F5F6"/>
          </a:solidFill>
          <a:ln w="12700">
            <a:solidFill>
              <a:srgbClr val="DCE4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78040" y="260604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Sentiment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326880" y="3017520"/>
            <a:ext cx="1965960" cy="594360"/>
          </a:xfrm>
          <a:prstGeom prst="roundRect">
            <a:avLst>
              <a:gd name="adj" fmla="val 49231"/>
            </a:avLst>
          </a:prstGeom>
          <a:solidFill>
            <a:srgbClr val="F1F5F6"/>
          </a:solidFill>
          <a:ln w="12700">
            <a:solidFill>
              <a:srgbClr val="DCE4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0" y="301752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Assets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549640" y="3977640"/>
            <a:ext cx="1051560" cy="1051560"/>
          </a:xfrm>
          <a:prstGeom prst="ellipse">
            <a:avLst/>
          </a:prstGeom>
          <a:solidFill>
            <a:srgbClr val="14181C"/>
          </a:solidFill>
          <a:ln/>
        </p:spPr>
      </p:sp>
      <p:sp>
        <p:nvSpPr>
          <p:cNvPr id="16" name="Text 14"/>
          <p:cNvSpPr/>
          <p:nvPr/>
        </p:nvSpPr>
        <p:spPr>
          <a:xfrm>
            <a:off x="8549640" y="397764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⇓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7635240" y="5257800"/>
            <a:ext cx="2880360" cy="914400"/>
          </a:xfrm>
          <a:prstGeom prst="roundRect">
            <a:avLst>
              <a:gd name="adj" fmla="val 10000"/>
            </a:avLst>
          </a:prstGeom>
          <a:solidFill>
            <a:srgbClr val="14181C"/>
          </a:solidFill>
          <a:ln/>
          <a:effectLst>
            <a:outerShdw sx="100000" sy="100000" kx="0" ky="0" algn="bl" rotWithShape="0" blurRad="101600" dist="38100" dir="5400000">
              <a:srgbClr val="000000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635240" y="5257800"/>
            <a:ext cx="2880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9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Dashboard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System Sets Out to 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393338" cy="1920240"/>
          </a:xfrm>
          <a:prstGeom prst="roundRect">
            <a:avLst>
              <a:gd name="adj" fmla="val 3810"/>
            </a:avLst>
          </a:prstGeom>
          <a:solidFill>
            <a:srgbClr val="F1F5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594360" cy="594360"/>
          </a:xfrm>
          <a:prstGeom prst="ellipse">
            <a:avLst/>
          </a:prstGeom>
          <a:solidFill>
            <a:srgbClr val="00BCD4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745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⊕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2560320"/>
            <a:ext cx="284469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926080"/>
            <a:ext cx="284469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price, volume, sentiment, on-chain, and macro data into one coherent pipeline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99178" y="1600200"/>
            <a:ext cx="3393338" cy="1920240"/>
          </a:xfrm>
          <a:prstGeom prst="roundRect">
            <a:avLst>
              <a:gd name="adj" fmla="val 3810"/>
            </a:avLst>
          </a:prstGeom>
          <a:solidFill>
            <a:srgbClr val="F1F5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73498" y="1874520"/>
            <a:ext cx="594360" cy="594360"/>
          </a:xfrm>
          <a:prstGeom prst="ellipse">
            <a:avLst/>
          </a:prstGeom>
          <a:solidFill>
            <a:srgbClr val="00BCD4"/>
          </a:solidFill>
          <a:ln/>
        </p:spPr>
      </p:sp>
      <p:sp>
        <p:nvSpPr>
          <p:cNvPr id="11" name="Text 9"/>
          <p:cNvSpPr/>
          <p:nvPr/>
        </p:nvSpPr>
        <p:spPr>
          <a:xfrm>
            <a:off x="4673498" y="18745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673498" y="2560320"/>
            <a:ext cx="284469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Risk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73498" y="2926080"/>
            <a:ext cx="284469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volatility and downside risk per asset using standard financial risk measures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8249717" y="1600200"/>
            <a:ext cx="3393338" cy="1920240"/>
          </a:xfrm>
          <a:prstGeom prst="roundRect">
            <a:avLst>
              <a:gd name="adj" fmla="val 3810"/>
            </a:avLst>
          </a:prstGeom>
          <a:solidFill>
            <a:srgbClr val="F1F5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524037" y="1874520"/>
            <a:ext cx="594360" cy="594360"/>
          </a:xfrm>
          <a:prstGeom prst="ellipse">
            <a:avLst/>
          </a:prstGeom>
          <a:solidFill>
            <a:srgbClr val="00BCD4"/>
          </a:solidFill>
          <a:ln/>
        </p:spPr>
      </p:sp>
      <p:sp>
        <p:nvSpPr>
          <p:cNvPr id="16" name="Text 14"/>
          <p:cNvSpPr/>
          <p:nvPr/>
        </p:nvSpPr>
        <p:spPr>
          <a:xfrm>
            <a:off x="8524037" y="18745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524037" y="2560320"/>
            <a:ext cx="284469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Cycles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524037" y="2926080"/>
            <a:ext cx="284469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 the prevailing market-cycle phase from transparent, explainable rules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548640" y="3749040"/>
            <a:ext cx="3393338" cy="1920240"/>
          </a:xfrm>
          <a:prstGeom prst="roundRect">
            <a:avLst>
              <a:gd name="adj" fmla="val 3810"/>
            </a:avLst>
          </a:prstGeom>
          <a:solidFill>
            <a:srgbClr val="F1F5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2960" y="4023360"/>
            <a:ext cx="594360" cy="594360"/>
          </a:xfrm>
          <a:prstGeom prst="ellipse">
            <a:avLst/>
          </a:prstGeom>
          <a:solidFill>
            <a:srgbClr val="00BCD4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40233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22960" y="4709160"/>
            <a:ext cx="284469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Correlation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2960" y="5074920"/>
            <a:ext cx="284469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 digital and traditional assets via static and rolling correlation, and beta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4399178" y="3749040"/>
            <a:ext cx="3393338" cy="1920240"/>
          </a:xfrm>
          <a:prstGeom prst="roundRect">
            <a:avLst>
              <a:gd name="adj" fmla="val 3810"/>
            </a:avLst>
          </a:prstGeom>
          <a:solidFill>
            <a:srgbClr val="F1F5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73498" y="4023360"/>
            <a:ext cx="594360" cy="594360"/>
          </a:xfrm>
          <a:prstGeom prst="ellipse">
            <a:avLst/>
          </a:prstGeom>
          <a:solidFill>
            <a:srgbClr val="00BCD4"/>
          </a:solidFill>
          <a:ln/>
        </p:spPr>
      </p:sp>
      <p:sp>
        <p:nvSpPr>
          <p:cNvPr id="26" name="Text 24"/>
          <p:cNvSpPr/>
          <p:nvPr/>
        </p:nvSpPr>
        <p:spPr>
          <a:xfrm>
            <a:off x="4673498" y="40233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4673498" y="4709160"/>
            <a:ext cx="284469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Honestly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673498" y="5074920"/>
            <a:ext cx="284469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a short-horizon price forecast with rigorous validation and real uncertainty bounds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8249717" y="3749040"/>
            <a:ext cx="3393338" cy="1920240"/>
          </a:xfrm>
          <a:prstGeom prst="roundRect">
            <a:avLst>
              <a:gd name="adj" fmla="val 3810"/>
            </a:avLst>
          </a:prstGeom>
          <a:solidFill>
            <a:srgbClr val="F1F5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524037" y="4023360"/>
            <a:ext cx="594360" cy="594360"/>
          </a:xfrm>
          <a:prstGeom prst="ellipse">
            <a:avLst/>
          </a:prstGeom>
          <a:solidFill>
            <a:srgbClr val="00BCD4"/>
          </a:solidFill>
          <a:ln/>
        </p:spPr>
      </p:sp>
      <p:sp>
        <p:nvSpPr>
          <p:cNvPr id="31" name="Text 29"/>
          <p:cNvSpPr/>
          <p:nvPr/>
        </p:nvSpPr>
        <p:spPr>
          <a:xfrm>
            <a:off x="8524037" y="40233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8524037" y="4709160"/>
            <a:ext cx="284469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Self-Service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524037" y="5074920"/>
            <a:ext cx="284469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it all through an interactive dashboard usable without technical training</a:t>
            </a:r>
            <a:endParaRPr lang="en-US" sz="1080" dirty="0"/>
          </a:p>
        </p:txBody>
      </p:sp>
      <p:sp>
        <p:nvSpPr>
          <p:cNvPr id="34" name="Text 3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DATA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Coins, Five Macro Assets, Four Free-Tier Feeds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ASSETS TRACKED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14181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82880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572768" y="1828800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14181C"/>
          </a:solidFill>
          <a:ln/>
        </p:spPr>
      </p:sp>
      <p:sp>
        <p:nvSpPr>
          <p:cNvPr id="8" name="Text 6"/>
          <p:cNvSpPr/>
          <p:nvPr/>
        </p:nvSpPr>
        <p:spPr>
          <a:xfrm>
            <a:off x="1572768" y="182880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96896" y="1828800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14181C"/>
          </a:solidFill>
          <a:ln/>
        </p:spPr>
      </p:sp>
      <p:sp>
        <p:nvSpPr>
          <p:cNvPr id="10" name="Text 8"/>
          <p:cNvSpPr/>
          <p:nvPr/>
        </p:nvSpPr>
        <p:spPr>
          <a:xfrm>
            <a:off x="2596896" y="182880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21024" y="1828800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14181C"/>
          </a:solidFill>
          <a:ln/>
        </p:spPr>
      </p:sp>
      <p:sp>
        <p:nvSpPr>
          <p:cNvPr id="12" name="Text 10"/>
          <p:cNvSpPr/>
          <p:nvPr/>
        </p:nvSpPr>
        <p:spPr>
          <a:xfrm>
            <a:off x="3621024" y="182880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BNB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45152" y="1828800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14181C"/>
          </a:solidFill>
          <a:ln/>
        </p:spPr>
      </p:sp>
      <p:sp>
        <p:nvSpPr>
          <p:cNvPr id="14" name="Text 12"/>
          <p:cNvSpPr/>
          <p:nvPr/>
        </p:nvSpPr>
        <p:spPr>
          <a:xfrm>
            <a:off x="4645152" y="182880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XRP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69280" y="1828800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14181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0" y="182880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2697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/ MACRO ASSETS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3017520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S&amp;P 500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48640" y="3383280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Gold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3749040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US Dollar Index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48640" y="4114800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US 10-Yr Yield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48640" y="4480560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Crude Oil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48640" y="5074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WINDOW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534924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Daily-frequency data, configurable window up to 365 days. Educational and analytical use — not financial advice.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720840" y="150876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PROVIDERS (ALL FREE TIER)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720840" y="1874520"/>
            <a:ext cx="4937760" cy="841248"/>
          </a:xfrm>
          <a:prstGeom prst="roundRect">
            <a:avLst>
              <a:gd name="adj" fmla="val 8696"/>
            </a:avLst>
          </a:prstGeom>
          <a:solidFill>
            <a:srgbClr val="F1F5F6"/>
          </a:solidFill>
          <a:ln/>
        </p:spPr>
      </p:sp>
      <p:sp>
        <p:nvSpPr>
          <p:cNvPr id="27" name="Shape 25"/>
          <p:cNvSpPr/>
          <p:nvPr/>
        </p:nvSpPr>
        <p:spPr>
          <a:xfrm>
            <a:off x="6720840" y="1874520"/>
            <a:ext cx="73152" cy="841248"/>
          </a:xfrm>
          <a:prstGeom prst="roundRect">
            <a:avLst/>
          </a:prstGeom>
          <a:solidFill>
            <a:srgbClr val="00BCD4"/>
          </a:solidFill>
          <a:ln/>
        </p:spPr>
      </p:sp>
      <p:sp>
        <p:nvSpPr>
          <p:cNvPr id="28" name="Text 26"/>
          <p:cNvSpPr/>
          <p:nvPr/>
        </p:nvSpPr>
        <p:spPr>
          <a:xfrm>
            <a:off x="6995160" y="19659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CoinGecko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995160" y="231343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price, volume, market cap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720840" y="2862072"/>
            <a:ext cx="4937760" cy="841248"/>
          </a:xfrm>
          <a:prstGeom prst="roundRect">
            <a:avLst>
              <a:gd name="adj" fmla="val 8696"/>
            </a:avLst>
          </a:prstGeom>
          <a:solidFill>
            <a:srgbClr val="F1F5F6"/>
          </a:solidFill>
          <a:ln/>
        </p:spPr>
      </p:sp>
      <p:sp>
        <p:nvSpPr>
          <p:cNvPr id="31" name="Shape 29"/>
          <p:cNvSpPr/>
          <p:nvPr/>
        </p:nvSpPr>
        <p:spPr>
          <a:xfrm>
            <a:off x="6720840" y="2862072"/>
            <a:ext cx="73152" cy="841248"/>
          </a:xfrm>
          <a:prstGeom prst="roundRect">
            <a:avLst/>
          </a:prstGeom>
          <a:solidFill>
            <a:srgbClr val="00BCD4"/>
          </a:solidFill>
          <a:ln/>
        </p:spPr>
      </p:sp>
      <p:sp>
        <p:nvSpPr>
          <p:cNvPr id="32" name="Text 30"/>
          <p:cNvSpPr/>
          <p:nvPr/>
        </p:nvSpPr>
        <p:spPr>
          <a:xfrm>
            <a:off x="6995160" y="295351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Yahoo Finance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995160" y="330098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500, gold, dollar index, yield, oil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720840" y="3849624"/>
            <a:ext cx="4937760" cy="841248"/>
          </a:xfrm>
          <a:prstGeom prst="roundRect">
            <a:avLst>
              <a:gd name="adj" fmla="val 8696"/>
            </a:avLst>
          </a:prstGeom>
          <a:solidFill>
            <a:srgbClr val="F1F5F6"/>
          </a:solidFill>
          <a:ln/>
        </p:spPr>
      </p:sp>
      <p:sp>
        <p:nvSpPr>
          <p:cNvPr id="35" name="Shape 33"/>
          <p:cNvSpPr/>
          <p:nvPr/>
        </p:nvSpPr>
        <p:spPr>
          <a:xfrm>
            <a:off x="6720840" y="3849624"/>
            <a:ext cx="73152" cy="841248"/>
          </a:xfrm>
          <a:prstGeom prst="roundRect">
            <a:avLst/>
          </a:prstGeom>
          <a:solidFill>
            <a:srgbClr val="00BCD4"/>
          </a:solidFill>
          <a:ln/>
        </p:spPr>
      </p:sp>
      <p:sp>
        <p:nvSpPr>
          <p:cNvPr id="36" name="Text 34"/>
          <p:cNvSpPr/>
          <p:nvPr/>
        </p:nvSpPr>
        <p:spPr>
          <a:xfrm>
            <a:off x="6995160" y="394106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alternative.me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995160" y="4288536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 &amp; Greed sentiment index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720840" y="4837176"/>
            <a:ext cx="4937760" cy="841248"/>
          </a:xfrm>
          <a:prstGeom prst="roundRect">
            <a:avLst>
              <a:gd name="adj" fmla="val 8696"/>
            </a:avLst>
          </a:prstGeom>
          <a:solidFill>
            <a:srgbClr val="F1F5F6"/>
          </a:solidFill>
          <a:ln/>
        </p:spPr>
      </p:sp>
      <p:sp>
        <p:nvSpPr>
          <p:cNvPr id="39" name="Shape 37"/>
          <p:cNvSpPr/>
          <p:nvPr/>
        </p:nvSpPr>
        <p:spPr>
          <a:xfrm>
            <a:off x="6720840" y="4837176"/>
            <a:ext cx="73152" cy="841248"/>
          </a:xfrm>
          <a:prstGeom prst="roundRect">
            <a:avLst/>
          </a:prstGeom>
          <a:solidFill>
            <a:srgbClr val="00BCD4"/>
          </a:solidFill>
          <a:ln/>
        </p:spPr>
      </p:sp>
      <p:sp>
        <p:nvSpPr>
          <p:cNvPr id="40" name="Text 38"/>
          <p:cNvSpPr/>
          <p:nvPr/>
        </p:nvSpPr>
        <p:spPr>
          <a:xfrm>
            <a:off x="6995160" y="4928616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Blockchain.info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995160" y="527608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on-chain transactions &amp; addresses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720840" y="5870448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 feed is unreachable, the system falls back to a deterministic synthetic dataset — the dashboard always runs.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Clean, Layered Pipeline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→ Analysis → Visualisation → Application. Every analytical function is pure and independently testable.</a:t>
            </a:r>
            <a:endParaRPr lang="en-US" sz="1350" dirty="0"/>
          </a:p>
        </p:txBody>
      </p:sp>
      <p:pic>
        <p:nvPicPr>
          <p:cNvPr id="5" name="Image 0" descr="C:\Users\garim\AppData\Local\Temp\pptxwork\assets\laye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01566" y="1554480"/>
            <a:ext cx="6588562" cy="470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Open-Source Python, End to End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proprietary dependencies — portable to any standard Python environment, including Streamlit Community Cloud.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393338" cy="1737360"/>
          </a:xfrm>
          <a:prstGeom prst="roundRect">
            <a:avLst>
              <a:gd name="adj" fmla="val 4211"/>
            </a:avLst>
          </a:prstGeom>
          <a:solidFill>
            <a:srgbClr val="F1F5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148840"/>
            <a:ext cx="822960" cy="822960"/>
          </a:xfrm>
          <a:prstGeom prst="ellipse">
            <a:avLst/>
          </a:prstGeom>
          <a:solidFill>
            <a:srgbClr val="14181C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148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874520" y="2194560"/>
            <a:ext cx="18388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606040"/>
            <a:ext cx="183885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3.10+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828800"/>
            <a:ext cx="3393338" cy="1737360"/>
          </a:xfrm>
          <a:prstGeom prst="roundRect">
            <a:avLst>
              <a:gd name="adj" fmla="val 4211"/>
            </a:avLst>
          </a:prstGeom>
          <a:solidFill>
            <a:srgbClr val="F1F5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19218" y="2148840"/>
            <a:ext cx="822960" cy="822960"/>
          </a:xfrm>
          <a:prstGeom prst="ellipse">
            <a:avLst/>
          </a:prstGeom>
          <a:solidFill>
            <a:srgbClr val="14181C"/>
          </a:solidFill>
          <a:ln/>
        </p:spPr>
      </p:sp>
      <p:sp>
        <p:nvSpPr>
          <p:cNvPr id="12" name="Text 10"/>
          <p:cNvSpPr/>
          <p:nvPr/>
        </p:nvSpPr>
        <p:spPr>
          <a:xfrm>
            <a:off x="4719218" y="2148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▦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725058" y="2194560"/>
            <a:ext cx="18388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Handling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725058" y="2606040"/>
            <a:ext cx="183885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pandas, NumPy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249717" y="1828800"/>
            <a:ext cx="3393338" cy="1737360"/>
          </a:xfrm>
          <a:prstGeom prst="roundRect">
            <a:avLst>
              <a:gd name="adj" fmla="val 4211"/>
            </a:avLst>
          </a:prstGeom>
          <a:solidFill>
            <a:srgbClr val="F1F5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69757" y="2148840"/>
            <a:ext cx="822960" cy="822960"/>
          </a:xfrm>
          <a:prstGeom prst="ellipse">
            <a:avLst/>
          </a:prstGeom>
          <a:solidFill>
            <a:srgbClr val="14181C"/>
          </a:solidFill>
          <a:ln/>
        </p:spPr>
      </p:sp>
      <p:sp>
        <p:nvSpPr>
          <p:cNvPr id="17" name="Text 15"/>
          <p:cNvSpPr/>
          <p:nvPr/>
        </p:nvSpPr>
        <p:spPr>
          <a:xfrm>
            <a:off x="8569757" y="2148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ƒ(x)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575597" y="2194560"/>
            <a:ext cx="18388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575597" y="2606040"/>
            <a:ext cx="183885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statsmodels, SciPy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794760"/>
            <a:ext cx="3393338" cy="1737360"/>
          </a:xfrm>
          <a:prstGeom prst="roundRect">
            <a:avLst>
              <a:gd name="adj" fmla="val 4211"/>
            </a:avLst>
          </a:prstGeom>
          <a:solidFill>
            <a:srgbClr val="F1F5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68680" y="4114800"/>
            <a:ext cx="822960" cy="822960"/>
          </a:xfrm>
          <a:prstGeom prst="ellipse">
            <a:avLst/>
          </a:prstGeom>
          <a:solidFill>
            <a:srgbClr val="14181C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114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874520" y="4160520"/>
            <a:ext cx="18388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874520" y="4572000"/>
            <a:ext cx="183885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requests, yfinance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399178" y="3794760"/>
            <a:ext cx="3393338" cy="1737360"/>
          </a:xfrm>
          <a:prstGeom prst="roundRect">
            <a:avLst>
              <a:gd name="adj" fmla="val 4211"/>
            </a:avLst>
          </a:prstGeom>
          <a:solidFill>
            <a:srgbClr val="F1F5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19218" y="4114800"/>
            <a:ext cx="822960" cy="822960"/>
          </a:xfrm>
          <a:prstGeom prst="ellipse">
            <a:avLst/>
          </a:prstGeom>
          <a:solidFill>
            <a:srgbClr val="14181C"/>
          </a:solidFill>
          <a:ln/>
        </p:spPr>
      </p:sp>
      <p:sp>
        <p:nvSpPr>
          <p:cNvPr id="27" name="Text 25"/>
          <p:cNvSpPr/>
          <p:nvPr/>
        </p:nvSpPr>
        <p:spPr>
          <a:xfrm>
            <a:off x="4719218" y="4114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725058" y="4160520"/>
            <a:ext cx="18388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725058" y="4572000"/>
            <a:ext cx="183885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249717" y="3794760"/>
            <a:ext cx="3393338" cy="1737360"/>
          </a:xfrm>
          <a:prstGeom prst="roundRect">
            <a:avLst>
              <a:gd name="adj" fmla="val 4211"/>
            </a:avLst>
          </a:prstGeom>
          <a:solidFill>
            <a:srgbClr val="F1F5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569757" y="4114800"/>
            <a:ext cx="822960" cy="822960"/>
          </a:xfrm>
          <a:prstGeom prst="ellipse">
            <a:avLst/>
          </a:prstGeom>
          <a:solidFill>
            <a:srgbClr val="14181C"/>
          </a:solidFill>
          <a:ln/>
        </p:spPr>
      </p:sp>
      <p:sp>
        <p:nvSpPr>
          <p:cNvPr id="32" name="Text 30"/>
          <p:cNvSpPr/>
          <p:nvPr/>
        </p:nvSpPr>
        <p:spPr>
          <a:xfrm>
            <a:off x="8569757" y="4114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⌗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575597" y="4160520"/>
            <a:ext cx="18388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575597" y="4572000"/>
            <a:ext cx="183885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OBJECT-ORIENTED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Use-Case Model</a:t>
            </a:r>
            <a:endParaRPr lang="en-US" sz="3200" dirty="0"/>
          </a:p>
        </p:txBody>
      </p:sp>
      <p:pic>
        <p:nvPicPr>
          <p:cNvPr id="4" name="Image 0" descr="C:\Users\garim\AppData\Local\Temp\pptxwork\assets\use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7040880" cy="482042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601200" y="146304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9601200" y="17830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/ Analyst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Data Providers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9601200" y="26060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Use Cases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9601200" y="2926080"/>
            <a:ext cx="22860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overview · Assess risk · Identify cycle · Analyse correlation · Forecast price · Monitor sentiment · Configure &amp; refresh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OBJECT-ORIENTED DESIGN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 Model — Value Objects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analysis function returns one immutable dataclass — the nouns of the domain (full design and sequence models in the SRS appendix).</a:t>
            </a:r>
            <a:endParaRPr lang="en-US" sz="1300" dirty="0"/>
          </a:p>
        </p:txBody>
      </p:sp>
      <p:pic>
        <p:nvPicPr>
          <p:cNvPr id="5" name="Image 0" descr="C:\Users\garim\AppData\Local\Temp\pptxwork\assets\domain_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8326" y="1600200"/>
            <a:ext cx="8435044" cy="470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Volatility &amp; Risk Assessment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18608" cy="1097280"/>
          </a:xfrm>
          <a:prstGeom prst="roundRect">
            <a:avLst>
              <a:gd name="adj" fmla="val 6667"/>
            </a:avLst>
          </a:prstGeom>
          <a:solidFill>
            <a:srgbClr val="F1F5F6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554480"/>
            <a:ext cx="73152" cy="1097280"/>
          </a:xfrm>
          <a:prstGeom prst="roundRect">
            <a:avLst/>
          </a:prstGeom>
          <a:solidFill>
            <a:srgbClr val="00BCD4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64208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 Volatility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029968"/>
            <a:ext cx="48156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3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× √252 on daily log returns</a:t>
            </a:r>
            <a:endParaRPr lang="en-US" sz="1130" dirty="0"/>
          </a:p>
        </p:txBody>
      </p:sp>
      <p:sp>
        <p:nvSpPr>
          <p:cNvPr id="8" name="Shape 6"/>
          <p:cNvSpPr/>
          <p:nvPr/>
        </p:nvSpPr>
        <p:spPr>
          <a:xfrm>
            <a:off x="6324448" y="1554480"/>
            <a:ext cx="5318608" cy="1097280"/>
          </a:xfrm>
          <a:prstGeom prst="roundRect">
            <a:avLst>
              <a:gd name="adj" fmla="val 6667"/>
            </a:avLst>
          </a:prstGeom>
          <a:solidFill>
            <a:srgbClr val="F1F5F6"/>
          </a:solidFill>
          <a:ln/>
        </p:spPr>
      </p:sp>
      <p:sp>
        <p:nvSpPr>
          <p:cNvPr id="9" name="Shape 7"/>
          <p:cNvSpPr/>
          <p:nvPr/>
        </p:nvSpPr>
        <p:spPr>
          <a:xfrm>
            <a:off x="6324448" y="1554480"/>
            <a:ext cx="73152" cy="1097280"/>
          </a:xfrm>
          <a:prstGeom prst="roundRect">
            <a:avLst/>
          </a:prstGeom>
          <a:solidFill>
            <a:srgbClr val="00BCD4"/>
          </a:solidFill>
          <a:ln/>
        </p:spPr>
      </p:sp>
      <p:sp>
        <p:nvSpPr>
          <p:cNvPr id="10" name="Text 8"/>
          <p:cNvSpPr/>
          <p:nvPr/>
        </p:nvSpPr>
        <p:spPr>
          <a:xfrm>
            <a:off x="6598768" y="1664208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95% / 99%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98768" y="2029968"/>
            <a:ext cx="48156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3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Value-at-Risk from the empirical return distribution</a:t>
            </a:r>
            <a:endParaRPr lang="en-US" sz="1130" dirty="0"/>
          </a:p>
        </p:txBody>
      </p:sp>
      <p:sp>
        <p:nvSpPr>
          <p:cNvPr id="12" name="Shape 10"/>
          <p:cNvSpPr/>
          <p:nvPr/>
        </p:nvSpPr>
        <p:spPr>
          <a:xfrm>
            <a:off x="548640" y="2852928"/>
            <a:ext cx="5318608" cy="1097280"/>
          </a:xfrm>
          <a:prstGeom prst="roundRect">
            <a:avLst>
              <a:gd name="adj" fmla="val 6667"/>
            </a:avLst>
          </a:prstGeom>
          <a:solidFill>
            <a:srgbClr val="F1F5F6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852928"/>
            <a:ext cx="73152" cy="1097280"/>
          </a:xfrm>
          <a:prstGeom prst="roundRect">
            <a:avLst/>
          </a:prstGeom>
          <a:solidFill>
            <a:srgbClr val="00BCD4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2962656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CVaR 95%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3328416"/>
            <a:ext cx="48156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3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loss in the worst 5% of days (tail severity beyond VaR)</a:t>
            </a:r>
            <a:endParaRPr lang="en-US" sz="1130" dirty="0"/>
          </a:p>
        </p:txBody>
      </p:sp>
      <p:sp>
        <p:nvSpPr>
          <p:cNvPr id="16" name="Shape 14"/>
          <p:cNvSpPr/>
          <p:nvPr/>
        </p:nvSpPr>
        <p:spPr>
          <a:xfrm>
            <a:off x="6324448" y="2852928"/>
            <a:ext cx="5318608" cy="1097280"/>
          </a:xfrm>
          <a:prstGeom prst="roundRect">
            <a:avLst>
              <a:gd name="adj" fmla="val 6667"/>
            </a:avLst>
          </a:prstGeom>
          <a:solidFill>
            <a:srgbClr val="F1F5F6"/>
          </a:solidFill>
          <a:ln/>
        </p:spPr>
      </p:sp>
      <p:sp>
        <p:nvSpPr>
          <p:cNvPr id="17" name="Shape 15"/>
          <p:cNvSpPr/>
          <p:nvPr/>
        </p:nvSpPr>
        <p:spPr>
          <a:xfrm>
            <a:off x="6324448" y="2852928"/>
            <a:ext cx="73152" cy="1097280"/>
          </a:xfrm>
          <a:prstGeom prst="roundRect">
            <a:avLst/>
          </a:prstGeom>
          <a:solidFill>
            <a:srgbClr val="00BCD4"/>
          </a:solidFill>
          <a:ln/>
        </p:spPr>
      </p:sp>
      <p:sp>
        <p:nvSpPr>
          <p:cNvPr id="18" name="Text 16"/>
          <p:cNvSpPr/>
          <p:nvPr/>
        </p:nvSpPr>
        <p:spPr>
          <a:xfrm>
            <a:off x="6598768" y="2962656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Drawdown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98768" y="3328416"/>
            <a:ext cx="48156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3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peak-to-trough decline over the window</a:t>
            </a:r>
            <a:endParaRPr lang="en-US" sz="1130" dirty="0"/>
          </a:p>
        </p:txBody>
      </p:sp>
      <p:sp>
        <p:nvSpPr>
          <p:cNvPr id="20" name="Shape 18"/>
          <p:cNvSpPr/>
          <p:nvPr/>
        </p:nvSpPr>
        <p:spPr>
          <a:xfrm>
            <a:off x="548640" y="4151376"/>
            <a:ext cx="5318608" cy="1097280"/>
          </a:xfrm>
          <a:prstGeom prst="roundRect">
            <a:avLst>
              <a:gd name="adj" fmla="val 6667"/>
            </a:avLst>
          </a:prstGeom>
          <a:solidFill>
            <a:srgbClr val="F1F5F6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4151376"/>
            <a:ext cx="73152" cy="1097280"/>
          </a:xfrm>
          <a:prstGeom prst="roundRect">
            <a:avLst/>
          </a:prstGeom>
          <a:solidFill>
            <a:srgbClr val="00BCD4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4261104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Ratio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2960" y="4626864"/>
            <a:ext cx="48156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3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Risk-adjusted return per unit of total volatility</a:t>
            </a:r>
            <a:endParaRPr lang="en-US" sz="1130" dirty="0"/>
          </a:p>
        </p:txBody>
      </p:sp>
      <p:sp>
        <p:nvSpPr>
          <p:cNvPr id="24" name="Shape 22"/>
          <p:cNvSpPr/>
          <p:nvPr/>
        </p:nvSpPr>
        <p:spPr>
          <a:xfrm>
            <a:off x="6324448" y="4151376"/>
            <a:ext cx="5318608" cy="1097280"/>
          </a:xfrm>
          <a:prstGeom prst="roundRect">
            <a:avLst>
              <a:gd name="adj" fmla="val 6667"/>
            </a:avLst>
          </a:prstGeom>
          <a:solidFill>
            <a:srgbClr val="F1F5F6"/>
          </a:solidFill>
          <a:ln/>
        </p:spPr>
      </p:sp>
      <p:sp>
        <p:nvSpPr>
          <p:cNvPr id="25" name="Shape 23"/>
          <p:cNvSpPr/>
          <p:nvPr/>
        </p:nvSpPr>
        <p:spPr>
          <a:xfrm>
            <a:off x="6324448" y="4151376"/>
            <a:ext cx="73152" cy="1097280"/>
          </a:xfrm>
          <a:prstGeom prst="roundRect">
            <a:avLst/>
          </a:prstGeom>
          <a:solidFill>
            <a:srgbClr val="00BCD4"/>
          </a:solidFill>
          <a:ln/>
        </p:spPr>
      </p:sp>
      <p:sp>
        <p:nvSpPr>
          <p:cNvPr id="26" name="Text 24"/>
          <p:cNvSpPr/>
          <p:nvPr/>
        </p:nvSpPr>
        <p:spPr>
          <a:xfrm>
            <a:off x="6598768" y="4261104"/>
            <a:ext cx="4815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Sortino Ratio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98768" y="4626864"/>
            <a:ext cx="48156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3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Risk-adjusted return penalising only downside volatility</a:t>
            </a:r>
            <a:endParaRPr lang="en-US" sz="1130" dirty="0"/>
          </a:p>
        </p:txBody>
      </p:sp>
      <p:sp>
        <p:nvSpPr>
          <p:cNvPr id="28" name="Text 26"/>
          <p:cNvSpPr/>
          <p:nvPr/>
        </p:nvSpPr>
        <p:spPr>
          <a:xfrm>
            <a:off x="548640" y="553212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asset is also classified into a volatility regime — Low, Elevated, or High — relative to its own rolling history.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Market-Cycle Phase Identification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80" i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Wyckoff four-phase cycle, inferred from three transparent signals — trend (MA50 vs MA200), momentum (RSI-14), and drawdown from peak. No black-box classifier.</a:t>
            </a:r>
            <a:endParaRPr lang="en-US" sz="128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533574" cy="1417320"/>
          </a:xfrm>
          <a:prstGeom prst="roundRect">
            <a:avLst>
              <a:gd name="adj" fmla="val 5161"/>
            </a:avLst>
          </a:prstGeom>
          <a:solidFill>
            <a:srgbClr val="14181C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8745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BC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2286000"/>
            <a:ext cx="22592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Accumulation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85800" y="2651760"/>
            <a:ext cx="22592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7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Downtrend losing momentum, or a deep, quiet base</a:t>
            </a:r>
            <a:endParaRPr lang="en-US" sz="970" dirty="0"/>
          </a:p>
        </p:txBody>
      </p:sp>
      <p:sp>
        <p:nvSpPr>
          <p:cNvPr id="9" name="Text 7"/>
          <p:cNvSpPr/>
          <p:nvPr/>
        </p:nvSpPr>
        <p:spPr>
          <a:xfrm>
            <a:off x="3063926" y="214884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402254" y="1783080"/>
            <a:ext cx="2533574" cy="1417320"/>
          </a:xfrm>
          <a:prstGeom prst="roundRect">
            <a:avLst>
              <a:gd name="adj" fmla="val 5161"/>
            </a:avLst>
          </a:prstGeom>
          <a:solidFill>
            <a:srgbClr val="14181C"/>
          </a:solidFill>
          <a:ln/>
        </p:spPr>
      </p:sp>
      <p:sp>
        <p:nvSpPr>
          <p:cNvPr id="11" name="Text 9"/>
          <p:cNvSpPr/>
          <p:nvPr/>
        </p:nvSpPr>
        <p:spPr>
          <a:xfrm>
            <a:off x="3539414" y="18745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BC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39414" y="2286000"/>
            <a:ext cx="22592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Markup (Bull)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539414" y="2651760"/>
            <a:ext cx="22592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7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Uptrend with confirming momentum — RSI ≥ 55</a:t>
            </a:r>
            <a:endParaRPr lang="en-US" sz="970" dirty="0"/>
          </a:p>
        </p:txBody>
      </p:sp>
      <p:sp>
        <p:nvSpPr>
          <p:cNvPr id="14" name="Text 12"/>
          <p:cNvSpPr/>
          <p:nvPr/>
        </p:nvSpPr>
        <p:spPr>
          <a:xfrm>
            <a:off x="5917540" y="214884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2533574" cy="1417320"/>
          </a:xfrm>
          <a:prstGeom prst="roundRect">
            <a:avLst>
              <a:gd name="adj" fmla="val 5161"/>
            </a:avLst>
          </a:prstGeom>
          <a:solidFill>
            <a:srgbClr val="14181C"/>
          </a:solidFill>
          <a:ln/>
        </p:spPr>
      </p:sp>
      <p:sp>
        <p:nvSpPr>
          <p:cNvPr id="16" name="Text 14"/>
          <p:cNvSpPr/>
          <p:nvPr/>
        </p:nvSpPr>
        <p:spPr>
          <a:xfrm>
            <a:off x="6393028" y="18745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BC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393028" y="2286000"/>
            <a:ext cx="22592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393028" y="2651760"/>
            <a:ext cx="22592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7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stalling near highs — supply meeting demand</a:t>
            </a:r>
            <a:endParaRPr lang="en-US" sz="970" dirty="0"/>
          </a:p>
        </p:txBody>
      </p:sp>
      <p:sp>
        <p:nvSpPr>
          <p:cNvPr id="19" name="Text 17"/>
          <p:cNvSpPr/>
          <p:nvPr/>
        </p:nvSpPr>
        <p:spPr>
          <a:xfrm>
            <a:off x="8771153" y="214884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109481" y="1783080"/>
            <a:ext cx="2533574" cy="1417320"/>
          </a:xfrm>
          <a:prstGeom prst="roundRect">
            <a:avLst>
              <a:gd name="adj" fmla="val 5161"/>
            </a:avLst>
          </a:prstGeom>
          <a:solidFill>
            <a:srgbClr val="14181C"/>
          </a:solidFill>
          <a:ln/>
        </p:spPr>
      </p:sp>
      <p:sp>
        <p:nvSpPr>
          <p:cNvPr id="21" name="Text 19"/>
          <p:cNvSpPr/>
          <p:nvPr/>
        </p:nvSpPr>
        <p:spPr>
          <a:xfrm>
            <a:off x="9246641" y="18745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BC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246641" y="2286000"/>
            <a:ext cx="22592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(Bear)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246641" y="2651760"/>
            <a:ext cx="22592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7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Downtrend with weak momentum and a deep decline</a:t>
            </a:r>
            <a:endParaRPr lang="en-US" sz="97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0789920" cy="2331720"/>
        </p:xfrm>
        <a:graphic>
          <a:graphicData uri="http://schemas.openxmlformats.org/drawingml/2006/table">
            <a:tbl>
              <a:tblPr/>
              <a:tblGrid>
                <a:gridCol w="2743200"/>
                <a:gridCol w="5303520"/>
                <a:gridCol w="2743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5F9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5F9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5F9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Uptrend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RSI ≥ 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Markup (Bull)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Uptrend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RSI &lt; 55, within 10% of peak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Downtrend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RSI ≤ 45, drawdown &lt; −25%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Markdown (Bear)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Downtrend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RSI &gt; 45, drawdown &lt; −25%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Accumulation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Sideways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Drawdown &lt; −30%, RSI &lt; 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Accumulation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Digital-vs-Traditional Correlation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0607040" cy="932688"/>
          </a:xfrm>
          <a:prstGeom prst="roundRect">
            <a:avLst>
              <a:gd name="adj" fmla="val 7843"/>
            </a:avLst>
          </a:prstGeom>
          <a:solidFill>
            <a:srgbClr val="F1F5F6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773936"/>
            <a:ext cx="585216" cy="585216"/>
          </a:xfrm>
          <a:prstGeom prst="ellipse">
            <a:avLst/>
          </a:prstGeom>
          <a:solidFill>
            <a:srgbClr val="00BCD4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73936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00200" y="1691640"/>
            <a:ext cx="2743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Correlation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480560" y="1691640"/>
            <a:ext cx="6492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correlation matrix of daily returns across crypto and macro assets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697480"/>
            <a:ext cx="10607040" cy="932688"/>
          </a:xfrm>
          <a:prstGeom prst="roundRect">
            <a:avLst>
              <a:gd name="adj" fmla="val 7843"/>
            </a:avLst>
          </a:prstGeom>
          <a:solidFill>
            <a:srgbClr val="F1F5F6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2871216"/>
            <a:ext cx="585216" cy="585216"/>
          </a:xfrm>
          <a:prstGeom prst="ellipse">
            <a:avLst/>
          </a:prstGeom>
          <a:solidFill>
            <a:srgbClr val="00BCD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871216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00200" y="2788920"/>
            <a:ext cx="2743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Correlation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80560" y="2788920"/>
            <a:ext cx="6492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recomputed over a moving window — the relationship is regime-dependent and shifts over time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94760"/>
            <a:ext cx="10607040" cy="932688"/>
          </a:xfrm>
          <a:prstGeom prst="roundRect">
            <a:avLst>
              <a:gd name="adj" fmla="val 7843"/>
            </a:avLst>
          </a:prstGeom>
          <a:solidFill>
            <a:srgbClr val="F1F5F6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3968496"/>
            <a:ext cx="585216" cy="585216"/>
          </a:xfrm>
          <a:prstGeom prst="ellipse">
            <a:avLst/>
          </a:prstGeom>
          <a:solidFill>
            <a:srgbClr val="00BCD4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968496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600200" y="3886200"/>
            <a:ext cx="2743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480560" y="3886200"/>
            <a:ext cx="6492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of an asset's returns to a benchmark's moves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892040"/>
            <a:ext cx="10607040" cy="932688"/>
          </a:xfrm>
          <a:prstGeom prst="roundRect">
            <a:avLst>
              <a:gd name="adj" fmla="val 7843"/>
            </a:avLst>
          </a:prstGeom>
          <a:solidFill>
            <a:srgbClr val="F1F5F6"/>
          </a:solidFill>
          <a:ln/>
        </p:spPr>
      </p:sp>
      <p:sp>
        <p:nvSpPr>
          <p:cNvPr id="20" name="Shape 18"/>
          <p:cNvSpPr/>
          <p:nvPr/>
        </p:nvSpPr>
        <p:spPr>
          <a:xfrm>
            <a:off x="777240" y="5065776"/>
            <a:ext cx="585216" cy="585216"/>
          </a:xfrm>
          <a:prstGeom prst="ellipse">
            <a:avLst/>
          </a:prstGeom>
          <a:solidFill>
            <a:srgbClr val="00BCD4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065776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600200" y="4983480"/>
            <a:ext cx="2743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 Correlation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480560" y="4983480"/>
            <a:ext cx="6492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measured separately in calm markets vs. the benchmark's worst days — does crypto de-correlate exactly when it matters, or converge?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Time-Series Forecasting (ARIMA)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Fitted on the log-price series, with a validation workflow chosen for honesty over a flattering number.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533574" cy="1965960"/>
          </a:xfrm>
          <a:prstGeom prst="roundRect">
            <a:avLst>
              <a:gd name="adj" fmla="val 3721"/>
            </a:avLst>
          </a:prstGeom>
          <a:solidFill>
            <a:srgbClr val="F1F5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14181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2560320"/>
            <a:ext cx="207637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2880360"/>
            <a:ext cx="207637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held-out test split (last 15% of history)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36494" y="237744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402254" y="1691640"/>
            <a:ext cx="2533574" cy="1965960"/>
          </a:xfrm>
          <a:prstGeom prst="roundRect">
            <a:avLst>
              <a:gd name="adj" fmla="val 3721"/>
            </a:avLst>
          </a:prstGeom>
          <a:solidFill>
            <a:srgbClr val="F1F5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30854" y="1920240"/>
            <a:ext cx="502920" cy="502920"/>
          </a:xfrm>
          <a:prstGeom prst="ellipse">
            <a:avLst/>
          </a:prstGeom>
          <a:solidFill>
            <a:srgbClr val="14181C"/>
          </a:solidFill>
          <a:ln/>
        </p:spPr>
      </p:sp>
      <p:sp>
        <p:nvSpPr>
          <p:cNvPr id="13" name="Text 11"/>
          <p:cNvSpPr/>
          <p:nvPr/>
        </p:nvSpPr>
        <p:spPr>
          <a:xfrm>
            <a:off x="3630854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630854" y="2560320"/>
            <a:ext cx="207637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Order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630854" y="2880360"/>
            <a:ext cx="207637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search (p,1,q), p,q ∈ {0,1,2}; lowest AIC on the training set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890108" y="237744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255868" y="1691640"/>
            <a:ext cx="2533574" cy="1965960"/>
          </a:xfrm>
          <a:prstGeom prst="roundRect">
            <a:avLst>
              <a:gd name="adj" fmla="val 3721"/>
            </a:avLst>
          </a:prstGeom>
          <a:solidFill>
            <a:srgbClr val="F1F5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84468" y="1920240"/>
            <a:ext cx="502920" cy="502920"/>
          </a:xfrm>
          <a:prstGeom prst="ellipse">
            <a:avLst/>
          </a:prstGeom>
          <a:solidFill>
            <a:srgbClr val="14181C"/>
          </a:solidFill>
          <a:ln/>
        </p:spPr>
      </p:sp>
      <p:sp>
        <p:nvSpPr>
          <p:cNvPr id="19" name="Text 17"/>
          <p:cNvSpPr/>
          <p:nvPr/>
        </p:nvSpPr>
        <p:spPr>
          <a:xfrm>
            <a:off x="6484468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484468" y="2560320"/>
            <a:ext cx="207637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484468" y="2880360"/>
            <a:ext cx="207637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Walk-forward, one-step-ahead forecasts on the test set — RMSE, MAE, MAPE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743721" y="237744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109481" y="1691640"/>
            <a:ext cx="2533574" cy="1965960"/>
          </a:xfrm>
          <a:prstGeom prst="roundRect">
            <a:avLst>
              <a:gd name="adj" fmla="val 3721"/>
            </a:avLst>
          </a:prstGeom>
          <a:solidFill>
            <a:srgbClr val="F1F5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338081" y="1920240"/>
            <a:ext cx="502920" cy="502920"/>
          </a:xfrm>
          <a:prstGeom prst="ellipse">
            <a:avLst/>
          </a:prstGeom>
          <a:solidFill>
            <a:srgbClr val="14181C"/>
          </a:solidFill>
          <a:ln/>
        </p:spPr>
      </p:sp>
      <p:sp>
        <p:nvSpPr>
          <p:cNvPr id="25" name="Text 23"/>
          <p:cNvSpPr/>
          <p:nvPr/>
        </p:nvSpPr>
        <p:spPr>
          <a:xfrm>
            <a:off x="9338081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338081" y="2560320"/>
            <a:ext cx="207637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9338081" y="2880360"/>
            <a:ext cx="207637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Refit on full history; project ahead with an 80% confidence interval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3977640"/>
            <a:ext cx="10607040" cy="1737360"/>
          </a:xfrm>
          <a:prstGeom prst="roundRect">
            <a:avLst>
              <a:gd name="adj" fmla="val 4211"/>
            </a:avLst>
          </a:prstGeom>
          <a:solidFill>
            <a:srgbClr val="1D2329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68680" y="3977640"/>
            <a:ext cx="9966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crypto returns sit close to a random walk, order selection often collapses to a low-order model and the forecast is best read as a quantification of near-term uncertainty — the widening interval — rather than a price target. Every result is reported alongside a naive random-walk baseline, with a skill score of 1 − RMSE</a:t>
            </a:r>
            <a:pPr indent="0" marL="0">
              <a:lnSpc>
                <a:spcPct val="130000"/>
              </a:lnSpc>
              <a:buNone/>
            </a:pPr>
            <a:r>
              <a:rPr lang="en-US" sz="1000" baseline="-40000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RMSE</a:t>
            </a:r>
            <a:pPr indent="0" marL="0">
              <a:lnSpc>
                <a:spcPct val="130000"/>
              </a:lnSpc>
              <a:buNone/>
            </a:pPr>
            <a:r>
              <a:rPr lang="en-US" sz="1000" baseline="-40000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5F9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Tabs, One Coherent View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6949440" cy="4892040"/>
          </a:xfrm>
          <a:prstGeom prst="roundRect">
            <a:avLst>
              <a:gd name="adj" fmla="val 1495"/>
            </a:avLst>
          </a:prstGeom>
          <a:solidFill>
            <a:srgbClr val="1D2329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417320"/>
            <a:ext cx="1874520" cy="4892040"/>
          </a:xfrm>
          <a:prstGeom prst="rect">
            <a:avLst/>
          </a:prstGeom>
          <a:solidFill>
            <a:srgbClr val="232A31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002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Market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window (days)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31520" y="260604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14181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60604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365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315468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731520" y="3483864"/>
            <a:ext cx="91440" cy="91440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2" name="Text 10"/>
          <p:cNvSpPr/>
          <p:nvPr/>
        </p:nvSpPr>
        <p:spPr>
          <a:xfrm>
            <a:off x="896112" y="3410712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CoinGecko: live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31520" y="3794760"/>
            <a:ext cx="91440" cy="91440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" y="3721608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Yahoo Finance: live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31520" y="4105656"/>
            <a:ext cx="91440" cy="91440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" y="4032504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 &amp; Greed: live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731520" y="4416552"/>
            <a:ext cx="91440" cy="91440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8" name="Text 16"/>
          <p:cNvSpPr/>
          <p:nvPr/>
        </p:nvSpPr>
        <p:spPr>
          <a:xfrm>
            <a:off x="896112" y="4343400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Blockchain.info: live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606040" y="1600200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9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Cryptocurrency Market Analysis System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2606040" y="2194560"/>
            <a:ext cx="709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606040" y="2468880"/>
            <a:ext cx="709574" cy="0"/>
          </a:xfrm>
          <a:prstGeom prst="line">
            <a:avLst/>
          </a:prstGeom>
          <a:noFill/>
          <a:ln w="19050">
            <a:solidFill>
              <a:srgbClr val="00BC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25342" y="2194560"/>
            <a:ext cx="1302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&amp; Risk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837176" y="2194560"/>
            <a:ext cx="10387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Cycles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985662" y="2194560"/>
            <a:ext cx="9070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178040" y="2167128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606040" y="2697480"/>
            <a:ext cx="108585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50" kern="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PRICE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606040" y="2926080"/>
            <a:ext cx="108585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$63,533.57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3783330" y="2697480"/>
            <a:ext cx="108585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50" kern="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CHANGE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3783330" y="2926080"/>
            <a:ext cx="108585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−0.6%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4960620" y="2697480"/>
            <a:ext cx="108585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50" kern="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ANN. VOLATILITY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4960620" y="2926080"/>
            <a:ext cx="108585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43%</a:t>
            </a:r>
            <a:endParaRPr lang="en-US" sz="1550" dirty="0"/>
          </a:p>
        </p:txBody>
      </p:sp>
      <p:sp>
        <p:nvSpPr>
          <p:cNvPr id="32" name="Text 30"/>
          <p:cNvSpPr/>
          <p:nvPr/>
        </p:nvSpPr>
        <p:spPr>
          <a:xfrm>
            <a:off x="6137910" y="2697480"/>
            <a:ext cx="108585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50" kern="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 &amp; GREED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6137910" y="2926080"/>
            <a:ext cx="108585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550" dirty="0"/>
          </a:p>
        </p:txBody>
      </p:sp>
      <p:graphicFrame>
        <p:nvGraphicFramePr>
          <p:cNvPr id="34" name="Chart 0" descr=""/>
          <p:cNvGraphicFramePr/>
          <p:nvPr/>
        </p:nvGraphicFramePr>
        <p:xfrm>
          <a:off x="2606040" y="3474720"/>
          <a:ext cx="470916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5" name="Text 32"/>
          <p:cNvSpPr/>
          <p:nvPr/>
        </p:nvSpPr>
        <p:spPr>
          <a:xfrm>
            <a:off x="7818120" y="14173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50" dirty="0"/>
          </a:p>
        </p:txBody>
      </p:sp>
      <p:sp>
        <p:nvSpPr>
          <p:cNvPr id="36" name="Text 33"/>
          <p:cNvSpPr/>
          <p:nvPr/>
        </p:nvSpPr>
        <p:spPr>
          <a:xfrm>
            <a:off x="7818120" y="174650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metrics, price with moving averages, risk &amp; cycle snapshot</a:t>
            </a:r>
            <a:endParaRPr lang="en-US" sz="1030" dirty="0"/>
          </a:p>
        </p:txBody>
      </p:sp>
      <p:sp>
        <p:nvSpPr>
          <p:cNvPr id="37" name="Text 34"/>
          <p:cNvSpPr/>
          <p:nvPr/>
        </p:nvSpPr>
        <p:spPr>
          <a:xfrm>
            <a:off x="7818120" y="222199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&amp; Risk</a:t>
            </a:r>
            <a:endParaRPr lang="en-US" sz="1250" dirty="0"/>
          </a:p>
        </p:txBody>
      </p:sp>
      <p:sp>
        <p:nvSpPr>
          <p:cNvPr id="38" name="Text 35"/>
          <p:cNvSpPr/>
          <p:nvPr/>
        </p:nvSpPr>
        <p:spPr>
          <a:xfrm>
            <a:off x="7818120" y="255117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VaR/CVaR, Sharpe/Sortino, rolling volatility, drawdown</a:t>
            </a:r>
            <a:endParaRPr lang="en-US" sz="1030" dirty="0"/>
          </a:p>
        </p:txBody>
      </p:sp>
      <p:sp>
        <p:nvSpPr>
          <p:cNvPr id="39" name="Text 36"/>
          <p:cNvSpPr/>
          <p:nvPr/>
        </p:nvSpPr>
        <p:spPr>
          <a:xfrm>
            <a:off x="7818120" y="302666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Cycles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7818120" y="335584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phase, RSI, phase-coloured price ribbon</a:t>
            </a:r>
            <a:endParaRPr lang="en-US" sz="1030" dirty="0"/>
          </a:p>
        </p:txBody>
      </p:sp>
      <p:sp>
        <p:nvSpPr>
          <p:cNvPr id="41" name="Text 38"/>
          <p:cNvSpPr/>
          <p:nvPr/>
        </p:nvSpPr>
        <p:spPr>
          <a:xfrm>
            <a:off x="7818120" y="38313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</a:t>
            </a:r>
            <a:endParaRPr lang="en-US" sz="1250" dirty="0"/>
          </a:p>
        </p:txBody>
      </p:sp>
      <p:sp>
        <p:nvSpPr>
          <p:cNvPr id="42" name="Text 39"/>
          <p:cNvSpPr/>
          <p:nvPr/>
        </p:nvSpPr>
        <p:spPr>
          <a:xfrm>
            <a:off x="7818120" y="41605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Heatmap, rolling correlation, beta</a:t>
            </a:r>
            <a:endParaRPr lang="en-US" sz="1030" dirty="0"/>
          </a:p>
        </p:txBody>
      </p:sp>
      <p:sp>
        <p:nvSpPr>
          <p:cNvPr id="43" name="Text 40"/>
          <p:cNvSpPr/>
          <p:nvPr/>
        </p:nvSpPr>
        <p:spPr>
          <a:xfrm>
            <a:off x="7818120" y="463600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</a:t>
            </a:r>
            <a:endParaRPr lang="en-US" sz="1250" dirty="0"/>
          </a:p>
        </p:txBody>
      </p:sp>
      <p:sp>
        <p:nvSpPr>
          <p:cNvPr id="44" name="Text 41"/>
          <p:cNvSpPr/>
          <p:nvPr/>
        </p:nvSpPr>
        <p:spPr>
          <a:xfrm>
            <a:off x="7818120" y="496519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 order, RMSE/MAE/MAPE, 80% uncertainty band</a:t>
            </a:r>
            <a:endParaRPr lang="en-US" sz="1030" dirty="0"/>
          </a:p>
        </p:txBody>
      </p:sp>
      <p:sp>
        <p:nvSpPr>
          <p:cNvPr id="45" name="Text 42"/>
          <p:cNvSpPr/>
          <p:nvPr/>
        </p:nvSpPr>
        <p:spPr>
          <a:xfrm>
            <a:off x="7818120" y="544068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Sources</a:t>
            </a:r>
            <a:endParaRPr lang="en-US" sz="1250" dirty="0"/>
          </a:p>
        </p:txBody>
      </p:sp>
      <p:sp>
        <p:nvSpPr>
          <p:cNvPr id="46" name="Text 43"/>
          <p:cNvSpPr/>
          <p:nvPr/>
        </p:nvSpPr>
        <p:spPr>
          <a:xfrm>
            <a:off x="7818120" y="576986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Sentiment, on-chain activity, live/sample feed status</a:t>
            </a:r>
            <a:endParaRPr lang="en-US" sz="1030" dirty="0"/>
          </a:p>
        </p:txBody>
      </p:sp>
      <p:sp>
        <p:nvSpPr>
          <p:cNvPr id="47" name="Text 44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&amp; Observations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84048" cy="384048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002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43000" y="1545336"/>
            <a:ext cx="9875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 table ranks assets by volatility and tail risk, supporting position sizing.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48640" y="2258568"/>
            <a:ext cx="384048" cy="384048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2585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43000" y="2203704"/>
            <a:ext cx="9875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labels contextualise where each asset currently sits within its market cycle.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2916936"/>
            <a:ext cx="384048" cy="384048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91693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43000" y="2862072"/>
            <a:ext cx="9875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correlation view reveals whether crypto is co-moving with equities or behaving independently.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48640" y="3575304"/>
            <a:ext cx="384048" cy="384048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57530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43000" y="3520440"/>
            <a:ext cx="9875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forecast quantifies near-term uncertainty rather than promising a price target.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48640" y="4434840"/>
            <a:ext cx="10607040" cy="1691640"/>
          </a:xfrm>
          <a:prstGeom prst="roundRect">
            <a:avLst>
              <a:gd name="adj" fmla="val 4324"/>
            </a:avLst>
          </a:prstGeom>
          <a:solidFill>
            <a:srgbClr val="1D2329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68680" y="4434840"/>
            <a:ext cx="99669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end-to-end on both live and fallback data — all six dashboard tabs verified without runtime errors. On near-random-walk data, ARIMA order selection collapsed to a low-order model with a flat central forecast and a widening interval: exactly the behaviour expected, and a useful illustration of why crypto price prediction demands caution.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AHEAD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&amp; Future Scope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18608" cy="502920"/>
          </a:xfrm>
          <a:prstGeom prst="roundRect">
            <a:avLst>
              <a:gd name="adj" fmla="val 14545"/>
            </a:avLst>
          </a:prstGeom>
          <a:solidFill>
            <a:srgbClr val="14181C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53186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504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Free-tier APIs cap history at roughly one year of daily data.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852928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2852928"/>
            <a:ext cx="504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uses the composite Fear &amp; Greed index, not raw social-text NLP.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419856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419856"/>
            <a:ext cx="504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metrics are limited to Bitcoin.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3986784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3986784"/>
            <a:ext cx="504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 is linear — it misses regime shifts and non-linear dynamics.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4553712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4553712"/>
            <a:ext cx="504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Educational and analytical only — not investment advice; no trade execution.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24448" y="1554480"/>
            <a:ext cx="5318608" cy="502920"/>
          </a:xfrm>
          <a:prstGeom prst="roundRect">
            <a:avLst>
              <a:gd name="adj" fmla="val 14545"/>
            </a:avLst>
          </a:prstGeom>
          <a:solidFill>
            <a:srgbClr val="00BCD4"/>
          </a:solidFill>
          <a:ln/>
        </p:spPr>
      </p:sp>
      <p:sp>
        <p:nvSpPr>
          <p:cNvPr id="17" name="Text 15"/>
          <p:cNvSpPr/>
          <p:nvPr/>
        </p:nvSpPr>
        <p:spPr>
          <a:xfrm>
            <a:off x="6324448" y="1554480"/>
            <a:ext cx="53186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24448" y="228600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598768" y="2286000"/>
            <a:ext cx="504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forecasters (Prophet, exponential smoothing, LSTM) behind the same result interface.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324448" y="2852928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98768" y="2852928"/>
            <a:ext cx="504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Portfolio-level view with correlation-weighted VaR across holdings.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324448" y="3419856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598768" y="3419856"/>
            <a:ext cx="504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social-media sentiment via NLP on news and social feeds.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324448" y="3986784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98768" y="3986784"/>
            <a:ext cx="504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on-chain analytics to more networks and richer metrics.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24448" y="4553712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598768" y="4553712"/>
            <a:ext cx="504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cloud deployment with scheduled refresh and alerting.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5F9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End-to-End Data-Science</a:t>
            </a:r>
            <a:endParaRPr lang="en-US" sz="3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5F9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Workflow, Built to Be Trusted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880360"/>
            <a:ext cx="7680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multi-source ingestion, through financial and statistical analysis, to interactive visualisation — addressing every component of the project brief. Its layered, testable architecture and its emphasis on transparent, explainable methods make it both a practical analytical tool and a solid engineering foundation for the extensions outlined above.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595360" y="30175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BC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595360" y="367588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 TRACKED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595360" y="402336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BC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595360" y="468172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DATA FEEDS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77440" y="-2194560"/>
            <a:ext cx="5486400" cy="5486400"/>
          </a:xfrm>
          <a:prstGeom prst="ellipse">
            <a:avLst/>
          </a:prstGeom>
          <a:solidFill>
            <a:srgbClr val="1D2329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4206240"/>
            <a:ext cx="4937760" cy="4937760"/>
          </a:xfrm>
          <a:prstGeom prst="ellipse">
            <a:avLst/>
          </a:prstGeom>
          <a:solidFill>
            <a:srgbClr val="1D2329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371600"/>
            <a:ext cx="1219169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5F9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0" y="23317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23748" y="3749040"/>
            <a:ext cx="2514600" cy="777240"/>
          </a:xfrm>
          <a:prstGeom prst="roundRect">
            <a:avLst>
              <a:gd name="adj" fmla="val 8235"/>
            </a:avLst>
          </a:prstGeom>
          <a:solidFill>
            <a:srgbClr val="1D2329"/>
          </a:solidFill>
          <a:ln w="12700">
            <a:solidFill>
              <a:srgbClr val="2A33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23748" y="374904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Garima Aishwarya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466948" y="3749040"/>
            <a:ext cx="2514600" cy="777240"/>
          </a:xfrm>
          <a:prstGeom prst="roundRect">
            <a:avLst>
              <a:gd name="adj" fmla="val 8235"/>
            </a:avLst>
          </a:prstGeom>
          <a:solidFill>
            <a:srgbClr val="1D2329"/>
          </a:solidFill>
          <a:ln w="12700">
            <a:solidFill>
              <a:srgbClr val="2A33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66948" y="374904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Dikshant Pargai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0148" y="3749040"/>
            <a:ext cx="2514600" cy="777240"/>
          </a:xfrm>
          <a:prstGeom prst="roundRect">
            <a:avLst>
              <a:gd name="adj" fmla="val 8235"/>
            </a:avLst>
          </a:prstGeom>
          <a:solidFill>
            <a:srgbClr val="1D2329"/>
          </a:solidFill>
          <a:ln w="12700">
            <a:solidFill>
              <a:srgbClr val="2A33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0148" y="374904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Divyanshu Singh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953348" y="3749040"/>
            <a:ext cx="2514600" cy="777240"/>
          </a:xfrm>
          <a:prstGeom prst="roundRect">
            <a:avLst>
              <a:gd name="adj" fmla="val 8235"/>
            </a:avLst>
          </a:prstGeom>
          <a:solidFill>
            <a:srgbClr val="1D2329"/>
          </a:solidFill>
          <a:ln w="12700">
            <a:solidFill>
              <a:srgbClr val="2A33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53348" y="374904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Nayan Bansal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0" y="60350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github.com/garimaaish1111/crypto-market-analysis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2026-08-17T08:12:34Z</dcterms:created>
  <dcterms:modified xsi:type="dcterms:W3CDTF">2026-08-17T08:12:34Z</dcterms:modified>
</cp:coreProperties>
</file>