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Cambria"/>
              </a:rPr>
              <a:t>Correlation with the S&amp;P 500, by market regime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Calm (224 days)</c:v>
                </c:pt>
              </c:strCache>
            </c:strRef>
          </c:tx>
          <c:spPr>
            <a:solidFill>
              <a:srgbClr val="90A4A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747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BTC</c:v>
                  </c:pt>
                  <c:pt idx="1">
                    <c:v>ETH</c:v>
                  </c:pt>
                  <c:pt idx="2">
                    <c:v>SOL</c:v>
                  </c:pt>
                  <c:pt idx="3">
                    <c:v>BNB</c:v>
                  </c:pt>
                  <c:pt idx="4">
                    <c:v>XRP</c:v>
                  </c:pt>
                  <c:pt idx="5">
                    <c:v>ADA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-0.07</c:v>
                </c:pt>
                <c:pt idx="1">
                  <c:v>-0.03</c:v>
                </c:pt>
                <c:pt idx="2">
                  <c:v>0.01</c:v>
                </c:pt>
                <c:pt idx="3">
                  <c:v>-0.07</c:v>
                </c:pt>
                <c:pt idx="4">
                  <c:v>-0.02</c:v>
                </c:pt>
                <c:pt idx="5">
                  <c:v>0.04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Stressed (25 days)</c:v>
                </c:pt>
              </c:strCache>
            </c:strRef>
          </c:tx>
          <c:spPr>
            <a:solidFill>
              <a:srgbClr val="00BCD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747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BTC</c:v>
                  </c:pt>
                  <c:pt idx="1">
                    <c:v>ETH</c:v>
                  </c:pt>
                  <c:pt idx="2">
                    <c:v>SOL</c:v>
                  </c:pt>
                  <c:pt idx="3">
                    <c:v>BNB</c:v>
                  </c:pt>
                  <c:pt idx="4">
                    <c:v>XRP</c:v>
                  </c:pt>
                  <c:pt idx="5">
                    <c:v>ADA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0.08</c:v>
                </c:pt>
                <c:pt idx="1">
                  <c:v>0.18</c:v>
                </c:pt>
                <c:pt idx="2">
                  <c:v>0.12</c:v>
                </c:pt>
                <c:pt idx="3">
                  <c:v>0.23</c:v>
                </c:pt>
                <c:pt idx="4">
                  <c:v>0.21</c:v>
                </c:pt>
                <c:pt idx="5">
                  <c:v>0.26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747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7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5"/>
        </c:scaling>
        <c:delete val="0"/>
        <c:axPos val="l"/>
        <c:majorGridlines>
          <c:spPr>
            <a:ln w="12700" cap="flat">
              <a:solidFill>
                <a:srgbClr val="ECEFF1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90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7474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dashboard that consolidates five market data feeds and reports what can and cannot be established from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600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EVALUATION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Analysis System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market cycles, digital-versus-traditional correlation and forecasting — denominated in rupees, validated against baselines that are hard to beat by accident.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212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 (AI/ML) · UPES Dehradun · IBM Data Science Internship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 data is everywhere.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reading of it is not.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375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3075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on-chain activity, sentiment and macro data live behind four different APIs in four different shapes.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78892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3375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Overstated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373075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dashboards show a forecast line and stop. Almost none report whether that forecast beats assuming no change.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78892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3375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Mis-framed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3075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is quoted in dollars. An Indian investor's return is the asset move and the currency move together.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meant to support an investment decision has to distinguish what it can establish from what it cannot.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analyses over five live feeds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92938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23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&amp; risk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743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volatility, VaR and CVaR, drawdown, Sharpe and Sortino, plus a GARCH(1,1) model of volatility clustering.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192938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9432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423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cycles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743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Wyckoff phase labels from trend, momentum and drawdown — every label traceable to the rule that produced it.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02752" y="192938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2752" y="1929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02752" y="2423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02752" y="2743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equities, gold, the dollar, rates and oil — measured separately in calm and stressed markets.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407822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5720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8920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on log price, validated walk-forward against a random-walk baseline and scored for skill.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384048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407822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9943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9432" y="45720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 model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48920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classifier testing whether sentiment and on-chain data predict tomorrow, with a feature-block ablation.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46720" y="384048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02752" y="4078224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02752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02752" y="457200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transparency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302752" y="48920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Per-feed status, live connection tests, previews and a preprocessing report for every dataset.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layered pipeline, no cycles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310896" cy="31089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53312" y="1810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20848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· src/ui/ · charts.py — eight tabs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7824" y="2761488"/>
            <a:ext cx="310896" cy="31089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53312" y="2651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53312" y="2926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· cycles · correlation · forecast · direction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419856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3602736"/>
            <a:ext cx="310896" cy="310896"/>
          </a:xfrm>
          <a:prstGeom prst="ellipse">
            <a:avLst/>
          </a:prstGeom>
          <a:solidFill>
            <a:srgbClr val="607D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53312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7673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→ MarketData bundle, FX applied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" y="4443984"/>
            <a:ext cx="310896" cy="310896"/>
          </a:xfrm>
          <a:prstGeom prst="ellipse">
            <a:avLst/>
          </a:prstGeom>
          <a:solidFill>
            <a:srgbClr val="90A4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53312" y="4334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access &amp; preparation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53312" y="46085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· preprocessing · cache · health · generator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5102352"/>
            <a:ext cx="6949440" cy="676656"/>
          </a:xfrm>
          <a:prstGeom prst="roundRect">
            <a:avLst>
              <a:gd name="adj" fmla="val 810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5285232"/>
            <a:ext cx="310896" cy="310896"/>
          </a:xfrm>
          <a:prstGeom prst="ellipse">
            <a:avLst/>
          </a:prstGeom>
          <a:solidFill>
            <a:srgbClr val="B0BE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53312" y="51755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sources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544982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 · Yahoo Finance · alternative.me · Blockchain.info · USD/INR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955280" y="1737360"/>
            <a:ext cx="3566160" cy="3950208"/>
          </a:xfrm>
          <a:prstGeom prst="roundRect">
            <a:avLst>
              <a:gd name="adj" fmla="val 153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9659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237744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analytical function is pure — a frame in, a result out.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and the notebook call the same code.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depends only on the one beneath it.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failure can reach the interface as an error.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modules, 4,800 lines, one configuration file.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and risk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exposed is this asset, and what does a bad day actually look like? Six numbers, computed on live data.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43.6%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annualised volatility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on 365 days — crypto trades every day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One-day VaR at 95%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Empirical, not normal — crypto tails are fat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5.03%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at 95%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loss once VaR is breached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205740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−49.5%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2734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drawdown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0" y="30083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the window, not an all-time high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206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GARCH(1,1) — volatility clustering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553712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rolling standard deviation weights every day in its window equally and drops a shock in one step. Realised volatility does neither: it clusters, and it decays smoothly. GARCH models that directly, so the estimate reacts on the day a shock lands and persistence is reported as a number rather than implied.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Sortino uses shortfall against the risk-free target across all observations — not the standard deviation of losing days, which is a different quantity and inflates the ratio.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cycles, explainable end to end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Wyckoff phases inferred from three signals, so every label can be traced to the condition that produced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212848"/>
            <a:ext cx="365760" cy="36576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61518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against a short and a long moving average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212848"/>
            <a:ext cx="365760" cy="36576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9432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Momentum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61518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RSI-14 with Wilder's smoothing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1965960"/>
            <a:ext cx="3383280" cy="1143000"/>
          </a:xfrm>
          <a:prstGeom prst="roundRect">
            <a:avLst>
              <a:gd name="adj" fmla="val 48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02752" y="2212848"/>
            <a:ext cx="365760" cy="36576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02752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823960" y="2231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Drawdown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261518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below the running peak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3756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217920"/>
                <a:gridCol w="31089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≥ 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Markup (Bull)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&lt; 55 and price within 10% of the peak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≤ 45 and drawdown beyond −25%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Markdown (Bear)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recovering, drawdown beyond −25%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Sideways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Drawdown beyond −30% and RSI below 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Sideways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Otherwise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Moving-average windows scale with the available history, and the pair in use is reported beside every label — a reading is never computed on a different basis than the reader assumes.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 — PRINCIPAL FINDING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Diversification that fails when it is needed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Full-sample correlation against traditional assets sits between −0.11 and +0.11: apparently near-perfect diversification. Splitting the sample by market regime contradicts that reading entirely.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148840"/>
          <a:ext cx="68580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48840"/>
            <a:ext cx="3749040" cy="3246120"/>
          </a:xfrm>
          <a:prstGeom prst="roundRect">
            <a:avLst>
              <a:gd name="adj" fmla="val 169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23774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split shows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7889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rises for all six assets — without exception — on the benchmark's worst days.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apparent diversification benefit weakens precisely when a hedge would matter most.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full-sample coefficient conceals this completely.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aligned trading days. Stress is the worst decile of benchmark performance. Direction is consistent across all six assets; magnitude for any single asset carries wide uncertainty at 25 observations.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that reports its own failure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crypto dashboards draw a forecast line and stop. This one measures whether prediction is possible at all — and says so when it is not.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on log price; order chosen by AIC on a training split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2900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4845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4845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forward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4845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 ahead, revealing each actual before the next prediction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792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737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3737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3737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random walk — tomorrow is today — scored on the same days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06840" y="2011680"/>
            <a:ext cx="2514600" cy="1737360"/>
          </a:xfrm>
          <a:prstGeom prst="roundRect">
            <a:avLst>
              <a:gd name="adj" fmla="val 3158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26296" y="2231136"/>
            <a:ext cx="384048" cy="384048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26296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226296" y="2724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226296" y="30175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RMSE(model) ÷ RMSE(naive), stated in plain language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21212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2976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ARIMA does not beat the random walk.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468172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correct finding for daily crypto returns, not a defect. The dashboard states it in words, and presents the interval as a range of outcomes rather than a price target.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Were the unused feeds worth collecting?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and on-chain data were gathered on every run and only displayed. A classifier settles whether they carry information about tomorrow — validated on time-ordered splits, scored against the majority-class base rate.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118872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12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Sentiment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On-chain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Macro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97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74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194560"/>
            <a:ext cx="3749040" cy="265176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24231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reading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834640"/>
            <a:ext cx="32004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set produces a lift worth acting on.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macro exceeds the base rate meaningfully, and 3.1 points on this sample is a hypothesis, not a finding.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and on-chain do not improve on price alone.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splits on a time series let a model learn from days that had not happened yet. Every split here is time-ordered, and a test asserts that truncating the series changes no feature value on the days that remain.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feeds, cleaned in one 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65376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CoinGecko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01168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volume and market cap for six assets, fetched natively in INR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Yahoo Finance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61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500, gold, dollar index, 10-year yield, crude oil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364992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236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alternative.me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12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 index — the sentiment signal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867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Blockchain.info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6110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transactions and active addresses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64608"/>
            <a:ext cx="274320" cy="274320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7365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USD/INR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1091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dollar-quoted assets; index levels and rates are not converted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1737360"/>
            <a:ext cx="4206240" cy="3749040"/>
          </a:xfrm>
          <a:prstGeom prst="roundRect">
            <a:avLst>
              <a:gd name="adj" fmla="val 146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0" y="19385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Preprocessing, in order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233172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De-duplicate the index — a repeated day double-counts everywhere downstream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 types — a value delivered as text compares without raising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to one row per day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impossible values before a return turns zero into infinity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gaps forward only — back-filling is look-ahead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outliers, never remove them — VaR exists to describe that tail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assets are not resampled onto a daily grid — those markets are genuinely shut at weekends, and inventing rows would drag every measured correlation toward zero.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backed by tests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correctness argument in this project is enforced by a test rather than asserted in prose.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209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entirely offline against a deterministic generator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92–97%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analysis-layer coverage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97 · direction 97 · correlation 95 · forecast 95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0.10s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start, no network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cache of real responses shipped with the project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869680" y="201168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live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29626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testable from the dashboard itself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tests worth naming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61772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checked across three separate interpreter processes, because Python randomises string hashing per process and an in-process assertion would have passed against the defective code. The correlation module is tested against a simulated provider outage that previously emptied the entire sample. The direction model is tested for look-ahead by confirming that truncating the series changes no surviving feature value.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anywhere, with nothing configured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5740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credentials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6243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ships with a cache of real responses from all five feeds, across all four history windows.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08" y="205740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4808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network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64808" y="26243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with every outbound call blocked: all five feeds still report live, on real data.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2336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0507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a second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5902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history window renders in about a tenth of a second from that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212080" cy="1691640"/>
          </a:xfrm>
          <a:prstGeom prst="roundRect">
            <a:avLst>
              <a:gd name="adj" fmla="val 3243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4808" y="4023360"/>
            <a:ext cx="402336" cy="402336"/>
          </a:xfrm>
          <a:prstGeom prst="ellipse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64808" y="4023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0507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Dated, not stale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459028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Datasets tab states the exact range each feed covers, so no figure is passed off as more current than it is.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API credential is optional and changes only fetch speed — six assets in 6.3 seconds rather than roughly 35. It is never required to read the project.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ACCOUNTING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system cannot tell you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293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year of history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68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provider's free tier caps at 365 days. A full crypto cycle runs about four years, so phase labels describe the current regime, not a position in a complete cycle.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19293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Bitcoin-only on-chain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468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of the free charts API. Exchange inflow and outflow would be the single most valuable addition.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19293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Sentiment is an index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468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composite stands in for direct social-media text analysis, which needs a paid feed.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40325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stressed days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572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 effect is consistent in direction across all six assets, but the magnitude for any one asset carries wide uncertainty.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43400" y="379476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99432" y="40325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declining window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572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shows a negative Sharpe over this period. Results should not be generalised to other conditions.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46720" y="379476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F5F7F8"/>
          </a:solidFill>
          <a:ln w="12700">
            <a:solidFill>
              <a:srgbClr val="E3E8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02752" y="403250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1 assumed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4572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differencing is defensible for log prices but is not established by a formal stationarity test.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996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Stating these is not a caveat added at the end — each one bounds what the results in this deck are entitled to claim.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CLOSING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dashboards predict prices.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EC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one measures whether prediction is possible.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finding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15968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Crypto's diversification benefit is regime-dependent. Correlation with equities rises for all six assets on the benchmark's worst days — exactly when a hedge would matter.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338328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9319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4315968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validation, baselines that are hard to beat by accident, and explicit skill scores. Negative results reported as results.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3383280"/>
            <a:ext cx="402336" cy="402336"/>
          </a:xfrm>
          <a:prstGeom prst="ellipse">
            <a:avLst/>
          </a:prstGeom>
          <a:solidFill>
            <a:srgbClr val="0097A7"/>
          </a:solidFill>
          <a:ln w="12700">
            <a:solidFill>
              <a:srgbClr val="0097A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9319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delivery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4315968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 tests, five live feeds, rupee denomination, and a system that opens in a tenth of a second with no credentials and no network.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meant to support an investment decision is more useful when it distinguishes what it can establish from what it cannot.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Cryptocurrency Market Analysis System</dc:title>
  <dc:subject>PptxGenJS Presentation</dc:subject>
  <dc:creator>Garima Aishwarya</dc:creator>
  <cp:lastModifiedBy>Garima Aishwarya</cp:lastModifiedBy>
  <cp:revision>1</cp:revision>
  <dcterms:created xsi:type="dcterms:W3CDTF">2026-08-30T09:51:01Z</dcterms:created>
  <dcterms:modified xsi:type="dcterms:W3CDTF">2026-08-30T09:51:01Z</dcterms:modified>
</cp:coreProperties>
</file>